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9" r:id="rId8"/>
    <p:sldId id="264" r:id="rId9"/>
    <p:sldId id="265" r:id="rId10"/>
    <p:sldId id="27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9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07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75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05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52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90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21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99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75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219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89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679D896-7FD6-4F44-946A-BC7D104FF4AA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F9DF03C-831E-491D-941D-E579E7901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881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h.ru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E0D3A56C-0464-FD86-3D1D-FB645D36E9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pic>
        <p:nvPicPr>
          <p:cNvPr id="5" name="Picture 13">
            <a:extLst>
              <a:ext uri="{FF2B5EF4-FFF2-40B4-BE49-F238E27FC236}">
                <a16:creationId xmlns:a16="http://schemas.microsoft.com/office/drawing/2014/main" id="{0D3BCE49-8324-CF21-3BE3-4DDEAD2D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441" y="2017774"/>
            <a:ext cx="2343917" cy="2179324"/>
          </a:xfrm>
          <a:prstGeom prst="rect">
            <a:avLst/>
          </a:prstGeom>
        </p:spPr>
      </p:pic>
      <p:pic>
        <p:nvPicPr>
          <p:cNvPr id="6" name="Graphic 15">
            <a:extLst>
              <a:ext uri="{FF2B5EF4-FFF2-40B4-BE49-F238E27FC236}">
                <a16:creationId xmlns:a16="http://schemas.microsoft.com/office/drawing/2014/main" id="{C58845BA-78B4-A2AE-C9A9-8CCE4C5D9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0054" y="2688336"/>
            <a:ext cx="3152775" cy="838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3D2F68-A958-D048-163D-43AF2E3CF0A3}"/>
              </a:ext>
            </a:extLst>
          </p:cNvPr>
          <p:cNvSpPr txBox="1"/>
          <p:nvPr/>
        </p:nvSpPr>
        <p:spPr>
          <a:xfrm>
            <a:off x="3893469" y="4616148"/>
            <a:ext cx="6094324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600" dirty="0">
                <a:solidFill>
                  <a:srgbClr val="F9FAFB"/>
                </a:solidFill>
                <a:effectLst/>
                <a:latin typeface="quote-cjk-patch"/>
              </a:rPr>
              <a:t>AI-</a:t>
            </a:r>
            <a:r>
              <a:rPr lang="ru-RU" sz="1600" dirty="0" err="1">
                <a:solidFill>
                  <a:srgbClr val="F9FAFB"/>
                </a:solidFill>
                <a:effectLst/>
                <a:latin typeface="quote-cjk-patch"/>
              </a:rPr>
              <a:t>Native</a:t>
            </a:r>
            <a:r>
              <a:rPr lang="ru-RU" sz="1600" dirty="0">
                <a:solidFill>
                  <a:srgbClr val="F9FAFB"/>
                </a:solidFill>
                <a:effectLst/>
                <a:latin typeface="quote-cjk-patch"/>
              </a:rPr>
              <a:t> платформа визуального конструирования атак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79AC9-971C-074A-13BF-6BA4406E7625}"/>
              </a:ext>
            </a:extLst>
          </p:cNvPr>
          <p:cNvSpPr txBox="1"/>
          <p:nvPr/>
        </p:nvSpPr>
        <p:spPr>
          <a:xfrm>
            <a:off x="420721" y="5587161"/>
            <a:ext cx="6094378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900" b="0" i="0" dirty="0">
                <a:solidFill>
                  <a:srgbClr val="F9FAFB"/>
                </a:solidFill>
                <a:effectLst/>
                <a:latin typeface="quote-cjk-patch"/>
              </a:rPr>
              <a:t>Семененко Лилия — Product Vision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900" b="0" i="0" dirty="0">
                <a:solidFill>
                  <a:srgbClr val="F9FAFB"/>
                </a:solidFill>
                <a:effectLst/>
                <a:latin typeface="quote-cjk-patch"/>
              </a:rPr>
              <a:t>Алексеев Филипп — Технический директор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900" b="0" i="0" dirty="0" err="1">
                <a:solidFill>
                  <a:srgbClr val="F9FAFB"/>
                </a:solidFill>
                <a:effectLst/>
                <a:latin typeface="quote-cjk-patch"/>
              </a:rPr>
              <a:t>Витютнев</a:t>
            </a:r>
            <a:r>
              <a:rPr lang="ru-RU" sz="900" b="0" i="0" dirty="0">
                <a:solidFill>
                  <a:srgbClr val="F9FAFB"/>
                </a:solidFill>
                <a:effectLst/>
                <a:latin typeface="quote-cjk-patch"/>
              </a:rPr>
              <a:t> Олег — Маркетолог / Дизайнер</a:t>
            </a:r>
          </a:p>
        </p:txBody>
      </p:sp>
    </p:spTree>
    <p:extLst>
      <p:ext uri="{BB962C8B-B14F-4D97-AF65-F5344CB8AC3E}">
        <p14:creationId xmlns:p14="http://schemas.microsoft.com/office/powerpoint/2010/main" val="468451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E62F-62EE-1523-D60F-037E37C2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F77B691-9C41-DA7E-6174-392C14673DA5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9BE17D-97B9-8B3B-3499-7B37557BE4B1}"/>
              </a:ext>
            </a:extLst>
          </p:cNvPr>
          <p:cNvSpPr txBox="1"/>
          <p:nvPr/>
        </p:nvSpPr>
        <p:spPr>
          <a:xfrm>
            <a:off x="4863846" y="275194"/>
            <a:ext cx="1337310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ПРОБЛЕМА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FC4E5-FE9E-09E6-DD93-70B1B99892F4}"/>
              </a:ext>
            </a:extLst>
          </p:cNvPr>
          <p:cNvSpPr txBox="1"/>
          <p:nvPr/>
        </p:nvSpPr>
        <p:spPr>
          <a:xfrm>
            <a:off x="3852291" y="821174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Защита перестаёт успевать за ИИ-атаками</a:t>
            </a:r>
            <a:endParaRPr lang="ru-RU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48FBBDB-9975-01F0-B98C-86A45E4A8ECB}"/>
              </a:ext>
            </a:extLst>
          </p:cNvPr>
          <p:cNvSpPr/>
          <p:nvPr/>
        </p:nvSpPr>
        <p:spPr>
          <a:xfrm>
            <a:off x="1704975" y="2025324"/>
            <a:ext cx="621792" cy="630936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892D9BB-A589-5CE5-9318-0023085B73DC}"/>
              </a:ext>
            </a:extLst>
          </p:cNvPr>
          <p:cNvSpPr/>
          <p:nvPr/>
        </p:nvSpPr>
        <p:spPr>
          <a:xfrm>
            <a:off x="5089779" y="2026299"/>
            <a:ext cx="621792" cy="630936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DBB6AD-B734-51B8-433B-C49A08CEAF73}"/>
              </a:ext>
            </a:extLst>
          </p:cNvPr>
          <p:cNvSpPr/>
          <p:nvPr/>
        </p:nvSpPr>
        <p:spPr>
          <a:xfrm>
            <a:off x="8236268" y="2025324"/>
            <a:ext cx="621792" cy="630936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BD73D-8A22-DE43-8057-AA5DBD0F6943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1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95AE29-4814-2FF7-6243-B14FC8E2F5F8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4E4DF5-C856-BBE0-3A77-4359377F58DC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3EDF68-C264-5724-0304-D46DB84B1E95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FD9210-CCBA-5730-C754-6370EACF8E0E}"/>
              </a:ext>
            </a:extLst>
          </p:cNvPr>
          <p:cNvSpPr txBox="1"/>
          <p:nvPr/>
        </p:nvSpPr>
        <p:spPr>
          <a:xfrm>
            <a:off x="645414" y="2983919"/>
            <a:ext cx="33627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</a:rPr>
              <a:t> ИИ-атаки стали мультифакторными — фишинг + дипфейки + подбор уязвимостей одновременно</a:t>
            </a:r>
            <a:endParaRPr lang="ru-RU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6DE100-C919-88EF-55B3-569967F9C05D}"/>
              </a:ext>
            </a:extLst>
          </p:cNvPr>
          <p:cNvSpPr txBox="1"/>
          <p:nvPr/>
        </p:nvSpPr>
        <p:spPr>
          <a:xfrm>
            <a:off x="645414" y="3953397"/>
            <a:ext cx="21739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76% атак используют ИИ (</a:t>
            </a:r>
            <a:r>
              <a:rPr lang="en-US" sz="1400" i="0" dirty="0">
                <a:solidFill>
                  <a:srgbClr val="F9FAFB"/>
                </a:solidFill>
                <a:effectLst/>
                <a:latin typeface="quote-cjk-patch"/>
              </a:rPr>
              <a:t>Positive Technologies, Q2 2025)</a:t>
            </a:r>
            <a:endParaRPr lang="ru-RU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86895A-1741-762A-5663-86BD478DBAA3}"/>
              </a:ext>
            </a:extLst>
          </p:cNvPr>
          <p:cNvSpPr txBox="1"/>
          <p:nvPr/>
        </p:nvSpPr>
        <p:spPr>
          <a:xfrm>
            <a:off x="4357497" y="2981036"/>
            <a:ext cx="23500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Пентестеры не успевают — ручное тестирование занимает 2-4 недели</a:t>
            </a:r>
            <a:endParaRPr lang="ru-RU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2952A2-A44B-571E-1F57-E6AEE18856B1}"/>
              </a:ext>
            </a:extLst>
          </p:cNvPr>
          <p:cNvSpPr txBox="1"/>
          <p:nvPr/>
        </p:nvSpPr>
        <p:spPr>
          <a:xfrm>
            <a:off x="4357497" y="3923131"/>
            <a:ext cx="30167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Средний чек пентеста: 3-5 млн руб (данные </a:t>
            </a:r>
            <a:r>
              <a:rPr lang="ru-RU" sz="1400" i="0" u="none" strike="noStrike" dirty="0">
                <a:solidFill>
                  <a:srgbClr val="679EFE"/>
                </a:solidFill>
                <a:effectLst/>
                <a:latin typeface="+mj-lt"/>
                <a:hlinkClick r:id="rId2"/>
              </a:rPr>
              <a:t>hh.ru</a:t>
            </a: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, тендеры)</a:t>
            </a:r>
            <a:endParaRPr lang="ru-RU" sz="1400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5C3F3C-2E10-0619-3330-58E33B7D8C10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81E92D-33D1-7A98-8AB2-27BF57848607}"/>
              </a:ext>
            </a:extLst>
          </p:cNvPr>
          <p:cNvSpPr txBox="1"/>
          <p:nvPr/>
        </p:nvSpPr>
        <p:spPr>
          <a:xfrm>
            <a:off x="7667244" y="2873314"/>
            <a:ext cx="25283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+mj-lt"/>
              </a:rPr>
              <a:t> </a:t>
            </a:r>
            <a:r>
              <a:rPr lang="ru-RU" sz="1400" b="1" i="0" dirty="0">
                <a:solidFill>
                  <a:srgbClr val="F9FAFB"/>
                </a:solidFill>
                <a:effectLst/>
                <a:latin typeface="+mj-lt"/>
              </a:rPr>
              <a:t>BAS-решения устарели</a:t>
            </a:r>
            <a:r>
              <a:rPr lang="ru-RU" sz="1400" b="0" i="0" dirty="0">
                <a:solidFill>
                  <a:srgbClr val="F9FAFB"/>
                </a:solidFill>
                <a:effectLst/>
                <a:latin typeface="+mj-lt"/>
              </a:rPr>
              <a:t> — Cymulate, SafeBreach работают только по известным базам</a:t>
            </a:r>
            <a:endParaRPr lang="ru-RU" sz="14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53B06F-418A-E7EF-DD59-E9B7587B7BA5}"/>
              </a:ext>
            </a:extLst>
          </p:cNvPr>
          <p:cNvSpPr txBox="1"/>
          <p:nvPr/>
        </p:nvSpPr>
        <p:spPr>
          <a:xfrm>
            <a:off x="7667244" y="3909809"/>
            <a:ext cx="2839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+mj-lt"/>
              </a:rPr>
              <a:t>SafeBreach сам объявил о переходе к AI-First (февраль 2026)</a:t>
            </a:r>
            <a:endParaRPr lang="ru-RU" sz="1400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A33D2-9B06-7398-AF35-8ED0F7D68D81}"/>
              </a:ext>
            </a:extLst>
          </p:cNvPr>
          <p:cNvSpPr txBox="1"/>
          <p:nvPr/>
        </p:nvSpPr>
        <p:spPr>
          <a:xfrm>
            <a:off x="2965323" y="5112214"/>
            <a:ext cx="6099048" cy="18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i="0" dirty="0">
                <a:solidFill>
                  <a:srgbClr val="F9FAFB"/>
                </a:solidFill>
                <a:effectLst/>
                <a:latin typeface="+mj-lt"/>
              </a:rPr>
              <a:t>                                                      </a:t>
            </a: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Сигналы с рынка: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PHDays 2025: эксперты обсуждают рост мультифакторных угроз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i="0" dirty="0">
                <a:solidFill>
                  <a:srgbClr val="F9FAFB"/>
                </a:solidFill>
                <a:effectLst/>
                <a:latin typeface="+mj-lt"/>
              </a:rPr>
              <a:t>BAS Felix (российский аналог) — только 400 готовых техник, без ИИ</a:t>
            </a:r>
          </a:p>
          <a:p>
            <a:pPr>
              <a:buNone/>
            </a:pPr>
            <a:br>
              <a:rPr lang="ru-RU" sz="1400" dirty="0">
                <a:latin typeface="+mj-lt"/>
              </a:rPr>
            </a:br>
            <a:endParaRPr lang="ru-RU" sz="1400" dirty="0">
              <a:latin typeface="+mj-lt"/>
            </a:endParaRPr>
          </a:p>
        </p:txBody>
      </p:sp>
      <p:pic>
        <p:nvPicPr>
          <p:cNvPr id="2" name="Picture 21">
            <a:extLst>
              <a:ext uri="{FF2B5EF4-FFF2-40B4-BE49-F238E27FC236}">
                <a16:creationId xmlns:a16="http://schemas.microsoft.com/office/drawing/2014/main" id="{759D781D-B8B0-5897-4F8C-21A96F2337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35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3B17B-1D26-6B43-E107-96993DF7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52CD6A08-325E-473C-36D6-4A667FC6D5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A0DD4ED-1E60-3E43-4F84-DD7232337020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5479E-A123-E55D-9E8F-030096962B5B}"/>
              </a:ext>
            </a:extLst>
          </p:cNvPr>
          <p:cNvSpPr txBox="1"/>
          <p:nvPr/>
        </p:nvSpPr>
        <p:spPr>
          <a:xfrm>
            <a:off x="4863845" y="275194"/>
            <a:ext cx="2772367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b="1" dirty="0"/>
              <a:t>Сегментация рынка</a:t>
            </a:r>
          </a:p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6EF3A-271D-11D7-1BCD-E9CB02687690}"/>
              </a:ext>
            </a:extLst>
          </p:cNvPr>
          <p:cNvSpPr txBox="1"/>
          <p:nvPr/>
        </p:nvSpPr>
        <p:spPr>
          <a:xfrm>
            <a:off x="5094732" y="851954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Целевые сегменты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CCA92F-FAD8-1039-05D8-C63E5D1311E6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2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AD0945-AFE9-1E04-BF21-B4F79B807137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5F5907-EBE9-3B2D-6B01-918041A01CA1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DDCAE0-8B35-426A-2AE9-D1906DEB787C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53DA266-2D41-3F6B-B70A-CB27D4FA4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36403"/>
              </p:ext>
            </p:extLst>
          </p:nvPr>
        </p:nvGraphicFramePr>
        <p:xfrm>
          <a:off x="2186028" y="2080111"/>
          <a:ext cx="8127999" cy="342773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508152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547184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1274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Сегмент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Кто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Проблема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1682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Крупный корпоративный сектор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CISO, </a:t>
                      </a:r>
                      <a:r>
                        <a:rPr lang="ru-RU" b="0">
                          <a:effectLst/>
                        </a:rPr>
                        <a:t>директор по ИБ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Защита от мультифакторных ИИ-атак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2229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Средний бизнес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IT-</a:t>
                      </a:r>
                      <a:r>
                        <a:rPr lang="ru-RU" b="0" dirty="0">
                          <a:effectLst/>
                        </a:rPr>
                        <a:t>директор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Нет денег на дорогие пентесты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6338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Государственные структуры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Начальник отдела ИБ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Требования регуляторов, импортозамещение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5662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</a:rPr>
                        <a:t>Учебные центры и вузы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</a:rPr>
                        <a:t>Преподаватель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</a:rPr>
                        <a:t>Учить студентов современным атакам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10084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70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E4A5-7751-4BBA-834E-26134ABC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>
            <a:extLst>
              <a:ext uri="{FF2B5EF4-FFF2-40B4-BE49-F238E27FC236}">
                <a16:creationId xmlns:a16="http://schemas.microsoft.com/office/drawing/2014/main" id="{664E0E13-6C5E-5C4F-7D4E-4A44165EA2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95633" y="0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45977A2-E219-6868-48AB-FCE800438674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B0A7C-172C-F81C-CFCE-5035A45ACE36}"/>
              </a:ext>
            </a:extLst>
          </p:cNvPr>
          <p:cNvSpPr txBox="1"/>
          <p:nvPr/>
        </p:nvSpPr>
        <p:spPr>
          <a:xfrm>
            <a:off x="4027551" y="303577"/>
            <a:ext cx="3676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ЦЕЛЕВОЙ КЛИЕНТ (</a:t>
            </a:r>
            <a:r>
              <a:rPr lang="en-US" b="1" dirty="0"/>
              <a:t>CUSTOMER)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EF37D-864B-2935-162F-A2611BCFCFA1}"/>
              </a:ext>
            </a:extLst>
          </p:cNvPr>
          <p:cNvSpPr txBox="1"/>
          <p:nvPr/>
        </p:nvSpPr>
        <p:spPr>
          <a:xfrm>
            <a:off x="3373946" y="802736"/>
            <a:ext cx="4715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Крупный корпоративный сектор (</a:t>
            </a:r>
            <a:r>
              <a:rPr lang="en-US" dirty="0"/>
              <a:t>Enterprise)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1BF763-AC3B-213E-8216-580BF01F9E0A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3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FB9602-EAAE-377D-37F8-6CAF80AA019E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217A1-482C-056C-5E80-05B29958008E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09962F-9C43-4013-B17A-3909D15B62D5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74486F-BFA8-3F54-6E5D-FE89C8D54943}"/>
              </a:ext>
            </a:extLst>
          </p:cNvPr>
          <p:cNvGraphicFramePr>
            <a:graphicFrameLocks noGrp="1"/>
          </p:cNvGraphicFramePr>
          <p:nvPr/>
        </p:nvGraphicFramePr>
        <p:xfrm>
          <a:off x="5784818" y="1788874"/>
          <a:ext cx="4539615" cy="3415414"/>
        </p:xfrm>
        <a:graphic>
          <a:graphicData uri="http://schemas.openxmlformats.org/drawingml/2006/table">
            <a:tbl>
              <a:tblPr/>
              <a:tblGrid>
                <a:gridCol w="2209382">
                  <a:extLst>
                    <a:ext uri="{9D8B030D-6E8A-4147-A177-3AD203B41FA5}">
                      <a16:colId xmlns:a16="http://schemas.microsoft.com/office/drawing/2014/main" val="1142642424"/>
                    </a:ext>
                  </a:extLst>
                </a:gridCol>
                <a:gridCol w="2330233">
                  <a:extLst>
                    <a:ext uri="{9D8B030D-6E8A-4147-A177-3AD203B41FA5}">
                      <a16:colId xmlns:a16="http://schemas.microsoft.com/office/drawing/2014/main" val="2864678780"/>
                    </a:ext>
                  </a:extLst>
                </a:gridCol>
              </a:tblGrid>
              <a:tr h="30605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Параметр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97740"/>
                  </a:ext>
                </a:extLst>
              </a:tr>
              <a:tr h="4770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Кто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CISO, директора по ИБ, руководители пентестов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099624"/>
                  </a:ext>
                </a:extLst>
              </a:tr>
              <a:tr h="4770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Где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Банки (ТОП-50), нефтегаз, ритейл, телеком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24322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Проблема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Необходимость непрерывной защиты от новых ИИ-угроз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036255"/>
                  </a:ext>
                </a:extLst>
              </a:tr>
              <a:tr h="64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Текущее решение</a:t>
                      </a:r>
                      <a:endParaRPr lang="ru-RU" sz="11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Наём пентестеров (3-5 млн/квартал), </a:t>
                      </a:r>
                      <a:r>
                        <a:rPr lang="en-US" sz="11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Cymulate, Metasploit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52786"/>
                  </a:ext>
                </a:extLst>
              </a:tr>
              <a:tr h="3060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Бюджет</a:t>
                      </a:r>
                      <a:endParaRPr lang="ru-RU" sz="11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1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от 10 млн руб/год на ИБ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191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847CBAC-0ABE-7468-65D8-417ACA0E7142}"/>
              </a:ext>
            </a:extLst>
          </p:cNvPr>
          <p:cNvSpPr txBox="1"/>
          <p:nvPr/>
        </p:nvSpPr>
        <p:spPr>
          <a:xfrm>
            <a:off x="99039" y="1301895"/>
            <a:ext cx="471563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quote-cjk-patch"/>
              </a:rPr>
              <a:t>Персона (Persona):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sz="1200" b="0" i="0" dirty="0">
                <a:solidFill>
                  <a:srgbClr val="F9FAFB"/>
                </a:solidFill>
                <a:effectLst/>
                <a:latin typeface="quote-cjk-patch"/>
              </a:rPr>
              <a:t>*Александр Дмитриевич, 42 года. Руководитель отдела пентестинга в крупном банке. 15 лет в ИБ. В подчинении 12 человек. Тратит 3-5 млн в квартал на внешних подрядчиков, но результаты приходят через месяц, когда угрозы уже изменились.*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200" b="1" i="0" dirty="0">
                <a:solidFill>
                  <a:srgbClr val="F9FAFB"/>
                </a:solidFill>
                <a:effectLst/>
                <a:latin typeface="quote-cjk-patch"/>
              </a:rPr>
              <a:t>JTBD: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sz="1200" b="0" i="1" dirty="0">
                <a:solidFill>
                  <a:srgbClr val="F9FAFB"/>
                </a:solidFill>
                <a:effectLst/>
                <a:latin typeface="quote-cjk-patch"/>
              </a:rPr>
              <a:t>«Когда мне нужно оценить защищённость перед проверкой регулятора, я хочу получить результаты за часы, а не недели, чтобы успеть закрыть дыры до того, как их найдут хакеры.»</a:t>
            </a:r>
            <a:endParaRPr lang="ru-RU" sz="12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C5042B-8305-8BA6-FECE-3F73046696BE}"/>
              </a:ext>
            </a:extLst>
          </p:cNvPr>
          <p:cNvSpPr txBox="1"/>
          <p:nvPr/>
        </p:nvSpPr>
        <p:spPr>
          <a:xfrm>
            <a:off x="99039" y="4124376"/>
            <a:ext cx="6099048" cy="126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Ключевые возражения:</a:t>
            </a:r>
            <a:endParaRPr lang="ru-RU" sz="1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❓ «ИИ может ошибиться и заблокировать легитимные процессы»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❓ «Как интегрировать с MaxPatrol, Active Directory?»</a:t>
            </a:r>
          </a:p>
        </p:txBody>
      </p:sp>
    </p:spTree>
    <p:extLst>
      <p:ext uri="{BB962C8B-B14F-4D97-AF65-F5344CB8AC3E}">
        <p14:creationId xmlns:p14="http://schemas.microsoft.com/office/powerpoint/2010/main" val="161471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6ED36-90A9-BCD8-6C8A-B6A8418E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85DC3B1C-9A19-92AD-D0AD-D8B69C86A9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3EAA4CE-DC8C-3662-0AC0-C53304B1DF82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F3E0F-1F8B-E5FF-BD4E-764F52FA05D9}"/>
              </a:ext>
            </a:extLst>
          </p:cNvPr>
          <p:cNvSpPr txBox="1"/>
          <p:nvPr/>
        </p:nvSpPr>
        <p:spPr>
          <a:xfrm>
            <a:off x="4863845" y="275194"/>
            <a:ext cx="3532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Рыночная ниша и конкуренты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04FA-AFE6-7E37-8AC6-0A425E3AD40A}"/>
              </a:ext>
            </a:extLst>
          </p:cNvPr>
          <p:cNvSpPr txBox="1"/>
          <p:nvPr/>
        </p:nvSpPr>
        <p:spPr>
          <a:xfrm>
            <a:off x="5549351" y="735053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Пустота на рынке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4E3E69-6BD1-3CC0-E3AE-F970B9B886BD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684FCE-DB9E-29CE-F65F-ED5649BFA5CF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1C4588-8330-6DD9-3A7D-5C7947A5B9F4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DF07A-FBCC-B783-B6BF-BB33DE7D6DFB}"/>
              </a:ext>
            </a:extLst>
          </p:cNvPr>
          <p:cNvSpPr txBox="1"/>
          <p:nvPr/>
        </p:nvSpPr>
        <p:spPr>
          <a:xfrm>
            <a:off x="657905" y="1267432"/>
            <a:ext cx="618679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Сегменты: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Крупный корпоративный сектор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(банки, нефтегаз, ритейл)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Средний бизнес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Государственные структуры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Образование и наука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6C681-4416-A4BA-4D9E-5C078071FAD6}"/>
              </a:ext>
            </a:extLst>
          </p:cNvPr>
          <p:cNvSpPr txBox="1"/>
          <p:nvPr/>
        </p:nvSpPr>
        <p:spPr>
          <a:xfrm>
            <a:off x="4274511" y="3406379"/>
            <a:ext cx="622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F9FAFB"/>
                </a:solidFill>
                <a:effectLst/>
                <a:latin typeface="quote-cjk-patch"/>
              </a:rPr>
              <a:t>Игроки на рынке:</a:t>
            </a:r>
            <a:endParaRPr lang="ru-RU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1A87F39-9B89-B5AC-35ED-203C76DD6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574054"/>
              </p:ext>
            </p:extLst>
          </p:nvPr>
        </p:nvGraphicFramePr>
        <p:xfrm>
          <a:off x="1454150" y="4056646"/>
          <a:ext cx="8128000" cy="22987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1642323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32441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Категория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Игроки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85862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quote-cjk-patch"/>
                        </a:rPr>
                        <a:t>Прямые конкуренты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Metasploit, Cobalt Strike, Cymulate/SafeBreach, Splunk SOAR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1549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quote-cjk-patch"/>
                        </a:rPr>
                        <a:t>Косвенные конкуренты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Darktrace, Microsoft Defender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7920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quote-cjk-patch"/>
                        </a:rPr>
                        <a:t>Замены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Наём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пентестеров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(услуги), Ручное тестирование, Игнорирование проблемы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1479583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6F5F594-E0DE-A9B6-73E1-0F491DB5DF9A}"/>
              </a:ext>
            </a:extLst>
          </p:cNvPr>
          <p:cNvSpPr txBox="1"/>
          <p:nvPr/>
        </p:nvSpPr>
        <p:spPr>
          <a:xfrm>
            <a:off x="5591926" y="1394340"/>
            <a:ext cx="526855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Пустота на рынке:</a:t>
            </a:r>
            <a:endParaRPr lang="ru-RU" sz="1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buNone/>
            </a:pPr>
            <a:r>
              <a:rPr lang="ru-RU" sz="1400" b="0" i="1" dirty="0">
                <a:solidFill>
                  <a:srgbClr val="F9FAFB"/>
                </a:solidFill>
                <a:effectLst/>
                <a:latin typeface="quote-cjk-patch"/>
              </a:rPr>
              <a:t>«Нет программы, где можно визуально конструировать атаки, где ИИ одновременно создаёт фишинг, дипфейки и подбирает уязвимости, обучаясь на этом.»</a:t>
            </a:r>
            <a:endParaRPr lang="ru-RU" sz="14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0991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679A-614E-FF72-BE57-338573F2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785A9F10-B9DB-69D5-D050-17DD5DCB25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B404C35-A704-4D3E-42FC-5C9DC7E48B1D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752D6-EDB9-8B28-636C-86D34875AC13}"/>
              </a:ext>
            </a:extLst>
          </p:cNvPr>
          <p:cNvSpPr txBox="1"/>
          <p:nvPr/>
        </p:nvSpPr>
        <p:spPr>
          <a:xfrm>
            <a:off x="4863845" y="275194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Конкуренты — детальный разбор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CFFA1-3B7E-B14A-DCAC-38E930837EDC}"/>
              </a:ext>
            </a:extLst>
          </p:cNvPr>
          <p:cNvSpPr txBox="1"/>
          <p:nvPr/>
        </p:nvSpPr>
        <p:spPr>
          <a:xfrm>
            <a:off x="3580256" y="837238"/>
            <a:ext cx="6577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Почему существующие решения не закрывают проблему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5E3F4A-C19C-581F-675C-564DE4A58D7D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</a:rPr>
              <a:t>5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A692A3-1A82-F94C-D5F2-4C533AD4574D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3E53A-A912-2167-59B6-95BA5A9D8166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710EEE-7B71-861D-882B-3F1EA025A4BE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D1766-2069-5288-48E2-61D2ECDAB9BA}"/>
              </a:ext>
            </a:extLst>
          </p:cNvPr>
          <p:cNvSpPr txBox="1"/>
          <p:nvPr/>
        </p:nvSpPr>
        <p:spPr>
          <a:xfrm>
            <a:off x="486861" y="1578488"/>
            <a:ext cx="618679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Metasploit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Фреймворк для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пентестеров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, огромная библиотека эксплойтов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Нет ИИ, нет визуального конструктора, нет обучения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Чистый инструмент для ручного взлома, требует высокой квалификации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Cobalt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Strike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Инструмент для Red Team, позволяет строить сложные цепочки атак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Без ИИ, без визуализации, только для профи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Caldera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(от MITRE)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Платформа для автоматизации атак по методике MITRE ATT&amp;CK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Есть автоматизация, но нет ИИ-генерации. Нет визуального конструктора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DC71B-A4E0-7093-6109-D215185E4478}"/>
              </a:ext>
            </a:extLst>
          </p:cNvPr>
          <p:cNvSpPr txBox="1"/>
          <p:nvPr/>
        </p:nvSpPr>
        <p:spPr>
          <a:xfrm>
            <a:off x="5789342" y="1546989"/>
            <a:ext cx="5351270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Splunk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SOAR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Платформа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оркестрации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безопасности, можно собирать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плейбуки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из блоков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Нет ИИ в генерации. Работает по жестким сценариям, которые написал человек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Если атака новая, непохожая на старые —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плейбук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ее не поймает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Нет предсказаний — реагирует на то, что уже случилось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Cymulate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/ </a:t>
            </a: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SafeBreach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Платформы непрерывного тестирования защиты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Не предсказывают будущее, а проверяют прошлое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Нет ИИ-генерации новых атак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BAS </a:t>
            </a: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Felix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(российский аналог)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400 готовых атакующих техник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Только по известным базам, без ИИ</a:t>
            </a:r>
          </a:p>
        </p:txBody>
      </p:sp>
    </p:spTree>
    <p:extLst>
      <p:ext uri="{BB962C8B-B14F-4D97-AF65-F5344CB8AC3E}">
        <p14:creationId xmlns:p14="http://schemas.microsoft.com/office/powerpoint/2010/main" val="119656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A68A-7AA3-EADD-0CBE-6CF1CA6E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B90F0801-552A-BDA1-6AA1-96BB7E4AC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3FCC2AE-EC77-FBA4-8861-416FAE76C830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BE221-B503-ED57-35A0-A1C83C3AB670}"/>
              </a:ext>
            </a:extLst>
          </p:cNvPr>
          <p:cNvSpPr txBox="1"/>
          <p:nvPr/>
        </p:nvSpPr>
        <p:spPr>
          <a:xfrm>
            <a:off x="4863845" y="275194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 Критерии выбора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FB5DE-4A23-0C4F-CB0C-6DF4E9B449C1}"/>
              </a:ext>
            </a:extLst>
          </p:cNvPr>
          <p:cNvSpPr txBox="1"/>
          <p:nvPr/>
        </p:nvSpPr>
        <p:spPr>
          <a:xfrm>
            <a:off x="3580256" y="837238"/>
            <a:ext cx="6577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Почему существующие решения не закрывают проблему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2A850F-FA57-75CF-2B03-47FA5DB076B3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6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6DBAC0-4EF7-5E90-29CA-312FA00C0B2C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7C4040-BF66-679C-A234-DCE0864746EA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557ADD-778A-154D-12B2-6696F535F3E7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D7C3351-4EF5-50D2-2ACB-AD09DB78F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816068"/>
              </p:ext>
            </p:extLst>
          </p:nvPr>
        </p:nvGraphicFramePr>
        <p:xfrm>
          <a:off x="2203152" y="1597482"/>
          <a:ext cx="6123774" cy="4520646"/>
        </p:xfrm>
        <a:graphic>
          <a:graphicData uri="http://schemas.openxmlformats.org/drawingml/2006/table">
            <a:tbl>
              <a:tblPr/>
              <a:tblGrid>
                <a:gridCol w="2041258">
                  <a:extLst>
                    <a:ext uri="{9D8B030D-6E8A-4147-A177-3AD203B41FA5}">
                      <a16:colId xmlns:a16="http://schemas.microsoft.com/office/drawing/2014/main" val="3767820775"/>
                    </a:ext>
                  </a:extLst>
                </a:gridCol>
                <a:gridCol w="2041258">
                  <a:extLst>
                    <a:ext uri="{9D8B030D-6E8A-4147-A177-3AD203B41FA5}">
                      <a16:colId xmlns:a16="http://schemas.microsoft.com/office/drawing/2014/main" val="1253566889"/>
                    </a:ext>
                  </a:extLst>
                </a:gridCol>
                <a:gridCol w="2041258">
                  <a:extLst>
                    <a:ext uri="{9D8B030D-6E8A-4147-A177-3AD203B41FA5}">
                      <a16:colId xmlns:a16="http://schemas.microsoft.com/office/drawing/2014/main" val="2474708017"/>
                    </a:ext>
                  </a:extLst>
                </a:gridCol>
              </a:tblGrid>
              <a:tr h="28338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Приоритет</a:t>
                      </a: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Почему важен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62936"/>
                  </a:ext>
                </a:extLst>
              </a:tr>
              <a:tr h="6307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1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 Точность результатов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Чтобы не пропустить реальную угрозу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116785"/>
                  </a:ext>
                </a:extLst>
              </a:tr>
              <a:tr h="4570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2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Скорость получения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Часы вместо недель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509429"/>
                  </a:ext>
                </a:extLst>
              </a:tr>
              <a:tr h="4570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3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 Интеграция с текущим стеком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>
                          <a:effectLst/>
                          <a:latin typeface="quote-cjk-patch"/>
                        </a:rPr>
                        <a:t>MaxPatrol, Active Directory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75240"/>
                  </a:ext>
                </a:extLst>
              </a:tr>
              <a:tr h="6307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4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 Цена / </a:t>
                      </a:r>
                      <a:r>
                        <a:rPr lang="en-US" sz="1300" b="0" dirty="0">
                          <a:effectLst/>
                          <a:latin typeface="quote-cjk-patch"/>
                        </a:rPr>
                        <a:t>ROI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Дешевле найма пентестеров (3-5 млн)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109429"/>
                  </a:ext>
                </a:extLst>
              </a:tr>
              <a:tr h="6307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5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 Импортозамещение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Сертификация ФСТЭК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41320"/>
                  </a:ext>
                </a:extLst>
              </a:tr>
              <a:tr h="6307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6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 Прогнозирование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>
                          <a:effectLst/>
                          <a:latin typeface="quote-cjk-patch"/>
                        </a:rPr>
                        <a:t>Видеть атаки до их начала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700729"/>
                  </a:ext>
                </a:extLst>
              </a:tr>
              <a:tr h="6307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1">
                          <a:effectLst/>
                          <a:latin typeface="quote-cjk-patch"/>
                        </a:rPr>
                        <a:t>7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819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 Простота внедрения</a:t>
                      </a:r>
                    </a:p>
                  </a:txBody>
                  <a:tcPr marL="87758" marR="87758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300" b="0" dirty="0">
                          <a:effectLst/>
                          <a:latin typeface="quote-cjk-patch"/>
                        </a:rPr>
                        <a:t>Не требует перестройки процессов</a:t>
                      </a:r>
                    </a:p>
                  </a:txBody>
                  <a:tcPr marL="87758" marR="65819" marT="54849" marB="548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9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1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2628-02CE-F47D-4B0D-4C9BBBEB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D4BD74BA-42AD-631F-32B4-CDFCE53D82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92B9B48-4F04-5A9B-D59F-EFDAB57E632C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7A631-E502-931E-EE41-35272125F117}"/>
              </a:ext>
            </a:extLst>
          </p:cNvPr>
          <p:cNvSpPr txBox="1"/>
          <p:nvPr/>
        </p:nvSpPr>
        <p:spPr>
          <a:xfrm>
            <a:off x="4863845" y="275194"/>
            <a:ext cx="4571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Решение (Solution) — как это работает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9706B-AAD8-4411-9556-0904B4D61E3A}"/>
              </a:ext>
            </a:extLst>
          </p:cNvPr>
          <p:cNvSpPr txBox="1"/>
          <p:nvPr/>
        </p:nvSpPr>
        <p:spPr>
          <a:xfrm>
            <a:off x="1857983" y="735053"/>
            <a:ext cx="10419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Zero.id — Платформа визуального конструирования атак на базе генеративного ИИ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8157FE-8456-7A1E-CEB5-4F8DCBBEE42B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7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9981E1-7470-D8A3-3012-A0999995E9C1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C414CE-2F30-BF71-35FC-2CFC375BF47B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9D7FE987-8151-9E6E-0BEA-302DDDAC4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69" y="1206068"/>
            <a:ext cx="6782068" cy="22229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F1EF48-7B50-546B-24C4-6FE009E877A1}"/>
              </a:ext>
            </a:extLst>
          </p:cNvPr>
          <p:cNvSpPr txBox="1"/>
          <p:nvPr/>
        </p:nvSpPr>
        <p:spPr>
          <a:xfrm>
            <a:off x="262647" y="3492074"/>
            <a:ext cx="6225702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Визуальный конструктор (как </a:t>
            </a: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Puzzle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RPA)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У специалиста есть целое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«обучаемое поле»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Он может сам настраивать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«Машину Кибербезопасности»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Перетаскивание блоков: [Фишинг] + [Дипфейк] + [Эксплойт] → [Собрать сценарий]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ИИ-ядро (генеративный ИИ)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Генерирует новые атаки (не по базам!)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Создаёт дипфейки и фишинг под конкретную инфраструктуру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под стиль компании, под сотрудников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Обучается на каждой симуляции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становится умнее с каждым запуском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4A7C8D-D164-1A92-5DFA-B0C51CBAF9FD}"/>
              </a:ext>
            </a:extLst>
          </p:cNvPr>
          <p:cNvSpPr txBox="1"/>
          <p:nvPr/>
        </p:nvSpPr>
        <p:spPr>
          <a:xfrm>
            <a:off x="6611544" y="3715212"/>
            <a:ext cx="379509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Результат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Программа, с помощью которой можно </a:t>
            </a:r>
            <a:r>
              <a:rPr lang="ru-RU" sz="1100" b="1" i="0" dirty="0" err="1">
                <a:solidFill>
                  <a:srgbClr val="F9FAFB"/>
                </a:solidFill>
                <a:effectLst/>
                <a:latin typeface="quote-cjk-patch"/>
              </a:rPr>
              <a:t>простраивать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 атаки в виртуальной среде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На основе их ИИ будет обучаться и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находить кратчайший путь решения проблемы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Прогнозирование сценариев атак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что случится завтра, а не что было вчера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Искусственный интеллект автоматизирует подбор уязвимости, одновременно создавая дипфейки и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фишинги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Атаки становятся комплексными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, ИИ на этом обучается</a:t>
            </a:r>
          </a:p>
        </p:txBody>
      </p:sp>
    </p:spTree>
    <p:extLst>
      <p:ext uri="{BB962C8B-B14F-4D97-AF65-F5344CB8AC3E}">
        <p14:creationId xmlns:p14="http://schemas.microsoft.com/office/powerpoint/2010/main" val="4213308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E6D2-A70B-4A16-42D1-46CCECE4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A0E44453-1B74-2A94-8148-0B852AB6C1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1979F96-BD3D-9956-A343-397C202A7351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2C1A1-D2F2-0380-DD79-A90F066EEB70}"/>
              </a:ext>
            </a:extLst>
          </p:cNvPr>
          <p:cNvSpPr txBox="1"/>
          <p:nvPr/>
        </p:nvSpPr>
        <p:spPr>
          <a:xfrm>
            <a:off x="3525607" y="360620"/>
            <a:ext cx="5836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Ценностное предложение (</a:t>
            </a:r>
            <a:r>
              <a:rPr lang="en-US" b="1" dirty="0"/>
              <a:t>Value Proposition)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220FE-A659-67DD-9A4D-E2F0EA710E65}"/>
              </a:ext>
            </a:extLst>
          </p:cNvPr>
          <p:cNvSpPr txBox="1"/>
          <p:nvPr/>
        </p:nvSpPr>
        <p:spPr>
          <a:xfrm>
            <a:off x="4686170" y="905905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Что мы даём клиенту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3150AA-D262-BD9F-9A97-1F509F8C743F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8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47075B-998F-8476-A8FA-A69685550E8D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04B683-FB64-EE91-04E5-87ED5C5D447B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3E37C8-4711-3F9A-102E-4D92A546682F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61683-F49E-1592-99D3-34DBEA3C5568}"/>
              </a:ext>
            </a:extLst>
          </p:cNvPr>
          <p:cNvSpPr txBox="1"/>
          <p:nvPr/>
        </p:nvSpPr>
        <p:spPr>
          <a:xfrm>
            <a:off x="423540" y="1628507"/>
            <a:ext cx="618679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Для кого:</a:t>
            </a:r>
            <a:b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Для специалистов по кибербезопасности крупных компаний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В какой ситуации:</a:t>
            </a:r>
            <a:b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Когда стандартные методы детектирования перестают работать из-за мультифакторных ИИ-атак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Что предлагаем:</a:t>
            </a:r>
            <a:b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Программу вида на подобие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Puzzle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RPA, где у специалиста будет целое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«обучаемое поле»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, с помощью которого он сможет сам настраивать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«Машину Кибербезопасности»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6383D-EB5F-48C4-28F1-F37DE727A85B}"/>
              </a:ext>
            </a:extLst>
          </p:cNvPr>
          <p:cNvSpPr txBox="1"/>
          <p:nvPr/>
        </p:nvSpPr>
        <p:spPr>
          <a:xfrm>
            <a:off x="423540" y="3874603"/>
            <a:ext cx="618679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Что получит: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Куча инструментов и библиотек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ИИ-двойник, на котором можно тренировать атаки, запускать, тестировать, прогнозировать и использовать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Возможность самому запрограммировать ИИ-машину под определенные действия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Визуальный интерфейс для просмотра состояния на основе прогноза и внесения правок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Это «некий ручной антивирус», который сможет выполнять не только автономные задачи, но и внедрять новые, соответственно с ИИ-анализом и предсказаниями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ru-RU" sz="1100" dirty="0"/>
            </a:br>
            <a:endParaRPr lang="ru-RU" sz="11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067CE25-7030-E3C6-EADE-056AEB1CE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72" y="2001882"/>
            <a:ext cx="3745441" cy="374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5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57FCB-206E-5F18-4246-07A1E23B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A776EC48-F7E0-85BB-A3F6-F895F03C60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8AB735A-D1CF-FCB2-1A35-AD8D259A236B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7C360-671F-D456-6C67-04586E4B9B23}"/>
              </a:ext>
            </a:extLst>
          </p:cNvPr>
          <p:cNvSpPr txBox="1"/>
          <p:nvPr/>
        </p:nvSpPr>
        <p:spPr>
          <a:xfrm>
            <a:off x="3525607" y="360620"/>
            <a:ext cx="5836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MVP Core (</a:t>
            </a:r>
            <a:r>
              <a:rPr lang="ru-RU" b="1" dirty="0"/>
              <a:t>ядро функций) с уровнями </a:t>
            </a:r>
            <a:r>
              <a:rPr lang="en-US" b="1" dirty="0"/>
              <a:t>Core/Support/Later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B2BF68-FB9B-37AF-87F0-61429BF90A32}"/>
              </a:ext>
            </a:extLst>
          </p:cNvPr>
          <p:cNvSpPr txBox="1"/>
          <p:nvPr/>
        </p:nvSpPr>
        <p:spPr>
          <a:xfrm>
            <a:off x="11444097" y="6156698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9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5476B8-6392-EC88-F8E8-D209AF4B90E7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382685-5265-DA44-C355-01001E3B7DF7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6C7077-BE26-170E-DEAC-293D49A8C80C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7E4CEE5-61AE-8636-0CF2-B3AF4FB46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14624"/>
              </p:ext>
            </p:extLst>
          </p:nvPr>
        </p:nvGraphicFramePr>
        <p:xfrm>
          <a:off x="2004270" y="1648378"/>
          <a:ext cx="7193589" cy="4849002"/>
        </p:xfrm>
        <a:graphic>
          <a:graphicData uri="http://schemas.openxmlformats.org/drawingml/2006/table">
            <a:tbl>
              <a:tblPr/>
              <a:tblGrid>
                <a:gridCol w="2397863">
                  <a:extLst>
                    <a:ext uri="{9D8B030D-6E8A-4147-A177-3AD203B41FA5}">
                      <a16:colId xmlns:a16="http://schemas.microsoft.com/office/drawing/2014/main" val="1784562358"/>
                    </a:ext>
                  </a:extLst>
                </a:gridCol>
                <a:gridCol w="2397863">
                  <a:extLst>
                    <a:ext uri="{9D8B030D-6E8A-4147-A177-3AD203B41FA5}">
                      <a16:colId xmlns:a16="http://schemas.microsoft.com/office/drawing/2014/main" val="411764691"/>
                    </a:ext>
                  </a:extLst>
                </a:gridCol>
                <a:gridCol w="2397863">
                  <a:extLst>
                    <a:ext uri="{9D8B030D-6E8A-4147-A177-3AD203B41FA5}">
                      <a16:colId xmlns:a16="http://schemas.microsoft.com/office/drawing/2014/main" val="375039921"/>
                    </a:ext>
                  </a:extLst>
                </a:gridCol>
              </a:tblGrid>
              <a:tr h="27786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quote-cjk-patch"/>
                        </a:rPr>
                        <a:t>Уровень</a:t>
                      </a: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Функция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Связь с ценностью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278296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quote-cjk-patch"/>
                        </a:rPr>
                        <a:t>Core (MVP)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Визуальный конструктор (</a:t>
                      </a:r>
                      <a:r>
                        <a:rPr lang="en-US" sz="1200" b="0">
                          <a:effectLst/>
                          <a:latin typeface="quote-cjk-patch"/>
                        </a:rPr>
                        <a:t>drag-and-drop)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Собирать сценарии без кода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390559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Генерация фишинга под инфраструктуру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Реалистичные тесты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723451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quote-cjk-patch"/>
                        </a:rPr>
                        <a:t>Интеграция с </a:t>
                      </a:r>
                      <a:r>
                        <a:rPr lang="en-US" sz="1200" b="0" dirty="0">
                          <a:effectLst/>
                          <a:latin typeface="quote-cjk-patch"/>
                        </a:rPr>
                        <a:t>AD / </a:t>
                      </a:r>
                      <a:r>
                        <a:rPr lang="ru-RU" sz="1200" b="0" dirty="0">
                          <a:effectLst/>
                          <a:latin typeface="quote-cjk-patch"/>
                        </a:rPr>
                        <a:t>почтой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Сбор данных об окружении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09115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quote-cjk-patch"/>
                        </a:rPr>
                        <a:t>Запуск симуляций (</a:t>
                      </a:r>
                      <a:r>
                        <a:rPr lang="en-US" sz="1200" b="0" dirty="0">
                          <a:effectLst/>
                          <a:latin typeface="quote-cjk-patch"/>
                        </a:rPr>
                        <a:t>read-only)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quote-cjk-patch"/>
                        </a:rPr>
                        <a:t>Безопасное тестирование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773686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Отчёт с картой уязвимостей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Видимый результат для </a:t>
                      </a:r>
                      <a:r>
                        <a:rPr lang="en-US" sz="1200" b="0">
                          <a:effectLst/>
                          <a:latin typeface="quote-cjk-patch"/>
                        </a:rPr>
                        <a:t>CISO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896709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quote-cjk-patch"/>
                        </a:rPr>
                        <a:t>Support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Генерация дипфейков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Повышение реалистичности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342074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Интеграция с </a:t>
                      </a:r>
                      <a:r>
                        <a:rPr lang="en-US" sz="1200" b="0">
                          <a:effectLst/>
                          <a:latin typeface="quote-cjk-patch"/>
                        </a:rPr>
                        <a:t>SIEM (MaxPatrol)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Глубокий анализ детектов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307822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Библиотека готовых сценариев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Быстрый старт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791175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Ролевой доступ (</a:t>
                      </a:r>
                      <a:r>
                        <a:rPr lang="en-US" sz="1200" b="0">
                          <a:effectLst/>
                          <a:latin typeface="quote-cjk-patch"/>
                        </a:rPr>
                        <a:t>RBAC)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Безопасность платформы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662812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quote-cjk-patch"/>
                        </a:rPr>
                        <a:t>Later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API </a:t>
                      </a:r>
                      <a:r>
                        <a:rPr lang="ru-RU" sz="1200" b="0">
                          <a:effectLst/>
                          <a:latin typeface="quote-cjk-patch"/>
                        </a:rPr>
                        <a:t>для кастомных интеграций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Расширяемость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650852"/>
                  </a:ext>
                </a:extLst>
              </a:tr>
              <a:tr h="3834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Генерация отчётов под регуляторов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Compliance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06759"/>
                  </a:ext>
                </a:extLst>
              </a:tr>
              <a:tr h="2778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40012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>
                          <a:effectLst/>
                          <a:latin typeface="quote-cjk-patch"/>
                        </a:rPr>
                        <a:t>Обучение на реальных атаках</a:t>
                      </a:r>
                    </a:p>
                  </a:txBody>
                  <a:tcPr marL="53350" marR="53350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200" b="0" dirty="0">
                          <a:effectLst/>
                          <a:latin typeface="quote-cjk-patch"/>
                        </a:rPr>
                        <a:t>Персонализация</a:t>
                      </a:r>
                    </a:p>
                  </a:txBody>
                  <a:tcPr marL="53350" marR="40012" marT="33344" marB="33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7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89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4F7B-218A-F481-1F54-7EF3755F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B5DF0DAB-4310-C460-3D13-9B7D8E1B6F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3" b="11609"/>
          <a:stretch>
            <a:fillRect/>
          </a:stretch>
        </p:blipFill>
        <p:spPr>
          <a:xfrm>
            <a:off x="-176936" y="1"/>
            <a:ext cx="12191980" cy="6857999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E7B656-7A62-6626-838E-412721950C48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84714-1998-58DC-7BC6-CDBDF2666E90}"/>
              </a:ext>
            </a:extLst>
          </p:cNvPr>
          <p:cNvSpPr txBox="1"/>
          <p:nvPr/>
        </p:nvSpPr>
        <p:spPr>
          <a:xfrm>
            <a:off x="4863845" y="275194"/>
            <a:ext cx="2772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Уникальность (</a:t>
            </a:r>
            <a:r>
              <a:rPr lang="en-US" b="1" dirty="0"/>
              <a:t>Why us)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1BFBA-F7FE-3922-72B0-65B62D2C9D6D}"/>
              </a:ext>
            </a:extLst>
          </p:cNvPr>
          <p:cNvSpPr txBox="1"/>
          <p:nvPr/>
        </p:nvSpPr>
        <p:spPr>
          <a:xfrm>
            <a:off x="4176522" y="711451"/>
            <a:ext cx="448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Чем мы отличаемся от конкурентов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B174FF-966B-AA4C-36E9-BB4F465D27CD}"/>
              </a:ext>
            </a:extLst>
          </p:cNvPr>
          <p:cNvSpPr txBox="1"/>
          <p:nvPr/>
        </p:nvSpPr>
        <p:spPr>
          <a:xfrm>
            <a:off x="11444096" y="6156698"/>
            <a:ext cx="1228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10</a:t>
            </a:r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016DD-C0AC-9F90-8F36-844957B380F8}"/>
              </a:ext>
            </a:extLst>
          </p:cNvPr>
          <p:cNvSpPr txBox="1"/>
          <p:nvPr/>
        </p:nvSpPr>
        <p:spPr>
          <a:xfrm>
            <a:off x="5265039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F66ED5-A788-99EF-D35A-3C3FB85AF365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F43D4D-9075-81C7-30AF-0355203A1A57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C527523-74A5-60CE-72F3-8E423B62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794089"/>
              </p:ext>
            </p:extLst>
          </p:nvPr>
        </p:nvGraphicFramePr>
        <p:xfrm>
          <a:off x="1855054" y="1355976"/>
          <a:ext cx="8127999" cy="29337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508152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547184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1274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Продукт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Что делает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Главное ограничение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616827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SafeBreach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Мировой лидер 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BAS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Работает по базам, только начали AI-First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2229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Cymulate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Платформа непрерывного тестирования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Нет ИИ-генерации, нет предсказаний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36338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BAS Felix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Российский 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BAS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400 техник, без ИИ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25662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Metasploit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Ручной инструмент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Нет визуализации, требует эксперта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100841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F27EFA-D473-2FF0-284F-56C928EB250C}"/>
              </a:ext>
            </a:extLst>
          </p:cNvPr>
          <p:cNvSpPr txBox="1"/>
          <p:nvPr/>
        </p:nvSpPr>
        <p:spPr>
          <a:xfrm>
            <a:off x="1855053" y="4417065"/>
            <a:ext cx="6637193" cy="271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Наше преимущество: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Генеративный ИИ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не ждём обновлений баз, сами придумываем атаки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Визуальный конструктор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как в </a:t>
            </a:r>
            <a:r>
              <a:rPr lang="ru-RU" sz="1100" b="0" i="0" dirty="0" err="1">
                <a:solidFill>
                  <a:srgbClr val="F9FAFB"/>
                </a:solidFill>
                <a:effectLst/>
                <a:latin typeface="quote-cjk-patch"/>
              </a:rPr>
              <a:t>Puzzle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 RPA, собирай сценарии без кода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Прогнозирование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видим, куда пойдёт хакер завтра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Импортозамещение</a:t>
            </a:r>
            <a:r>
              <a:rPr lang="ru-RU" sz="1100" b="0" i="0" dirty="0">
                <a:solidFill>
                  <a:srgbClr val="F9FAFB"/>
                </a:solidFill>
                <a:effectLst/>
                <a:latin typeface="quote-cjk-patch"/>
              </a:rPr>
              <a:t> — российское ПО, реестр ФСТЭК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1100" b="1" i="0" dirty="0">
                <a:solidFill>
                  <a:srgbClr val="F9FAFB"/>
                </a:solidFill>
                <a:effectLst/>
                <a:latin typeface="quote-cjk-patch"/>
              </a:rPr>
              <a:t>«Мы не используем готовые базы — ИИ сам придумывает новые атаки.»</a:t>
            </a:r>
            <a:endParaRPr lang="ru-RU" sz="11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ru-RU" sz="1100" dirty="0"/>
            </a:b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91958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B1B6-EAA4-91B1-C6CC-1D07604BA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4918688-C152-91AE-6D62-94FB55F81CE3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427028-0591-1D83-8935-C5BC2E789D8B}"/>
              </a:ext>
            </a:extLst>
          </p:cNvPr>
          <p:cNvSpPr txBox="1"/>
          <p:nvPr/>
        </p:nvSpPr>
        <p:spPr>
          <a:xfrm>
            <a:off x="11444096" y="6156698"/>
            <a:ext cx="747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11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DF97D8-5E66-3E05-8E87-9A7FA38240BC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400B24-A358-185B-DAE0-9287EF3535A7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F8A5B2-B71C-A30D-7B3B-3DC4115F6D37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3C683-67D0-76DE-563E-072FEEF9C465}"/>
              </a:ext>
            </a:extLst>
          </p:cNvPr>
          <p:cNvSpPr txBox="1"/>
          <p:nvPr/>
        </p:nvSpPr>
        <p:spPr>
          <a:xfrm>
            <a:off x="3750564" y="218001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ДОРОЖНАЯ КАРТА (</a:t>
            </a:r>
            <a:r>
              <a:rPr lang="en-US" b="1" dirty="0"/>
              <a:t>ROADMAP)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D23D7-9613-D418-C0A1-0FFC7CD9C1CB}"/>
              </a:ext>
            </a:extLst>
          </p:cNvPr>
          <p:cNvSpPr txBox="1"/>
          <p:nvPr/>
        </p:nvSpPr>
        <p:spPr>
          <a:xfrm>
            <a:off x="4430268" y="651444"/>
            <a:ext cx="6099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План развития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ED2BA8-3CFF-11EF-2EFF-20B01F6DB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" name="Таблица 10">
            <a:extLst>
              <a:ext uri="{FF2B5EF4-FFF2-40B4-BE49-F238E27FC236}">
                <a16:creationId xmlns:a16="http://schemas.microsoft.com/office/drawing/2014/main" id="{32D609F5-FE44-C644-F8A6-9CD3E9A33D65}"/>
              </a:ext>
            </a:extLst>
          </p:cNvPr>
          <p:cNvGraphicFramePr>
            <a:graphicFrameLocks/>
          </p:cNvGraphicFramePr>
          <p:nvPr/>
        </p:nvGraphicFramePr>
        <p:xfrm>
          <a:off x="632479" y="2249406"/>
          <a:ext cx="3419817" cy="270300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44980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1674837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</a:tblGrid>
              <a:tr h="35315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Этап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Что делаем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MVP (Q3 2026)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Прототип визуального конструктора + генерация фишинга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3531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>
                          <a:effectLst/>
                          <a:latin typeface="quote-cjk-patch"/>
                        </a:rPr>
                        <a:t>Пилот (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Q4 2026)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Внедрение в 3–5 банках, сбор обратной связи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CEB87E5-2308-728B-0039-2B144F2C3D60}"/>
              </a:ext>
            </a:extLst>
          </p:cNvPr>
          <p:cNvSpPr txBox="1"/>
          <p:nvPr/>
        </p:nvSpPr>
        <p:spPr>
          <a:xfrm>
            <a:off x="5829300" y="1157022"/>
            <a:ext cx="4700016" cy="585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400" dirty="0">
                <a:solidFill>
                  <a:srgbClr val="F9FAFB"/>
                </a:solidFill>
                <a:effectLst/>
                <a:latin typeface="quote-cjk-patch"/>
              </a:rPr>
              <a:t>2026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Q3 — MVP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Прототип визуального конструктора + генерация фишинга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Q4 — Пилот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Внедрение в 3–5 банках, сбор обратной связи</a:t>
            </a:r>
          </a:p>
          <a:p>
            <a:pPr>
              <a:buNone/>
            </a:pPr>
            <a:endParaRPr lang="ru-RU" sz="1400" dirty="0"/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1400" dirty="0">
                <a:solidFill>
                  <a:srgbClr val="F9FAFB"/>
                </a:solidFill>
                <a:effectLst/>
                <a:latin typeface="quote-cjk-patch"/>
              </a:rPr>
              <a:t>2027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Q1 — Релиз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Полная версия: генерация дипфейков, интеграция с SIEM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Q2–Q4 — Масштабирование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Выход на 50+ клиентов, развитие партнёрской сети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2027 — Сертификация</a:t>
            </a:r>
            <a:b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Получение сертификатов ФСТЭК</a:t>
            </a:r>
          </a:p>
          <a:p>
            <a:pPr>
              <a:buNone/>
            </a:pPr>
            <a:br>
              <a:rPr lang="ru-RU" sz="1400" dirty="0"/>
            </a:b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5947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B0908-4BD8-829D-8A89-6CD01571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6AC1B37-DFC0-F7ED-A78C-CBEBE43C7720}"/>
              </a:ext>
            </a:extLst>
          </p:cNvPr>
          <p:cNvSpPr/>
          <p:nvPr/>
        </p:nvSpPr>
        <p:spPr>
          <a:xfrm>
            <a:off x="10963656" y="0"/>
            <a:ext cx="1228344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AE017-27F2-D8B3-0E90-BC502DB3579D}"/>
              </a:ext>
            </a:extLst>
          </p:cNvPr>
          <p:cNvSpPr txBox="1"/>
          <p:nvPr/>
        </p:nvSpPr>
        <p:spPr>
          <a:xfrm>
            <a:off x="11444096" y="6156698"/>
            <a:ext cx="676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</a:t>
            </a:r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741FE0-BB42-78D4-BB0F-230FF8F3286D}"/>
              </a:ext>
            </a:extLst>
          </p:cNvPr>
          <p:cNvSpPr txBox="1"/>
          <p:nvPr/>
        </p:nvSpPr>
        <p:spPr>
          <a:xfrm>
            <a:off x="1867567" y="215612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167954-5022-2728-8015-F132F6714259}"/>
              </a:ext>
            </a:extLst>
          </p:cNvPr>
          <p:cNvSpPr txBox="1"/>
          <p:nvPr/>
        </p:nvSpPr>
        <p:spPr>
          <a:xfrm>
            <a:off x="9582150" y="2159984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F40D23-3F17-BFD7-04F7-F6F27BA326D2}"/>
              </a:ext>
            </a:extLst>
          </p:cNvPr>
          <p:cNvSpPr txBox="1"/>
          <p:nvPr/>
        </p:nvSpPr>
        <p:spPr>
          <a:xfrm>
            <a:off x="8396478" y="2147036"/>
            <a:ext cx="267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C7853-A800-A488-0C75-02537CE36FC0}"/>
              </a:ext>
            </a:extLst>
          </p:cNvPr>
          <p:cNvSpPr txBox="1"/>
          <p:nvPr/>
        </p:nvSpPr>
        <p:spPr>
          <a:xfrm>
            <a:off x="4425696" y="374981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КОМАНДА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C7774E-0FF2-CF96-78F6-ABBF63F8E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E1A27-8505-1823-B223-1BFC0208641A}"/>
              </a:ext>
            </a:extLst>
          </p:cNvPr>
          <p:cNvSpPr txBox="1"/>
          <p:nvPr/>
        </p:nvSpPr>
        <p:spPr>
          <a:xfrm>
            <a:off x="4307586" y="1119294"/>
            <a:ext cx="1788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Кто делает продукт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C1FAF-D981-758B-4A9B-6FF89072E19A}"/>
              </a:ext>
            </a:extLst>
          </p:cNvPr>
          <p:cNvSpPr txBox="1"/>
          <p:nvPr/>
        </p:nvSpPr>
        <p:spPr>
          <a:xfrm>
            <a:off x="2001298" y="3048380"/>
            <a:ext cx="609904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Основатель / Product Vision</a:t>
            </a:r>
            <a:b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Семененко Лилия — тимлид, разработчик, автор концепции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Технический директор</a:t>
            </a:r>
            <a:b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Алексеев Филипп — разработчик</a:t>
            </a:r>
          </a:p>
          <a:p>
            <a:pPr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Маркетолог / Дизайнер</a:t>
            </a:r>
            <a:b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Витютнев Олег — дизайнер, разработчик</a:t>
            </a:r>
          </a:p>
        </p:txBody>
      </p:sp>
    </p:spTree>
    <p:extLst>
      <p:ext uri="{BB962C8B-B14F-4D97-AF65-F5344CB8AC3E}">
        <p14:creationId xmlns:p14="http://schemas.microsoft.com/office/powerpoint/2010/main" val="100823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1348</Words>
  <Application>Microsoft Office PowerPoint</Application>
  <PresentationFormat>Широкоэкранный</PresentationFormat>
  <Paragraphs>274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quote-cjk-patch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lolasudo</dc:creator>
  <cp:lastModifiedBy>lolasudo</cp:lastModifiedBy>
  <cp:revision>5</cp:revision>
  <dcterms:created xsi:type="dcterms:W3CDTF">2026-03-12T10:38:06Z</dcterms:created>
  <dcterms:modified xsi:type="dcterms:W3CDTF">2026-03-12T11:39:38Z</dcterms:modified>
</cp:coreProperties>
</file>