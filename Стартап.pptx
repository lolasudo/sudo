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0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21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65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20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80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04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92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05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85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27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81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F7D7653-8BDA-41B4-9F99-4DDC04F9931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215FD69-34DC-4D82-A492-044477428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11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h.ru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h.ru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9160647-18B5-6C24-F453-23BCF6445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022" y="-872888"/>
            <a:ext cx="12351022" cy="8798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605F8E-6564-F4D2-8DBA-12473BF92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441" y="2017774"/>
            <a:ext cx="2343917" cy="217932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4F77172-F049-7494-05C1-FFF8675C77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0054" y="2688336"/>
            <a:ext cx="31527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2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E62F-62EE-1523-D60F-037E37C2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F77B691-9C41-DA7E-6174-392C14673DA5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BE17D-97B9-8B3B-3499-7B37557BE4B1}"/>
              </a:ext>
            </a:extLst>
          </p:cNvPr>
          <p:cNvSpPr txBox="1"/>
          <p:nvPr/>
        </p:nvSpPr>
        <p:spPr>
          <a:xfrm>
            <a:off x="4863846" y="275194"/>
            <a:ext cx="1337310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ПРОБЛЕМА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FC4E5-FE9E-09E6-DD93-70B1B99892F4}"/>
              </a:ext>
            </a:extLst>
          </p:cNvPr>
          <p:cNvSpPr txBox="1"/>
          <p:nvPr/>
        </p:nvSpPr>
        <p:spPr>
          <a:xfrm>
            <a:off x="3852291" y="821174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Защита перестаёт успевать за ИИ-атаками</a:t>
            </a:r>
            <a:endParaRPr lang="ru-RU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48FBBDB-9975-01F0-B98C-86A45E4A8ECB}"/>
              </a:ext>
            </a:extLst>
          </p:cNvPr>
          <p:cNvSpPr/>
          <p:nvPr/>
        </p:nvSpPr>
        <p:spPr>
          <a:xfrm>
            <a:off x="1704975" y="2025324"/>
            <a:ext cx="621792" cy="630936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892D9BB-A589-5CE5-9318-0023085B73DC}"/>
              </a:ext>
            </a:extLst>
          </p:cNvPr>
          <p:cNvSpPr/>
          <p:nvPr/>
        </p:nvSpPr>
        <p:spPr>
          <a:xfrm>
            <a:off x="5089779" y="2026299"/>
            <a:ext cx="621792" cy="630936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DBB6AD-B734-51B8-433B-C49A08CEAF73}"/>
              </a:ext>
            </a:extLst>
          </p:cNvPr>
          <p:cNvSpPr/>
          <p:nvPr/>
        </p:nvSpPr>
        <p:spPr>
          <a:xfrm>
            <a:off x="8236268" y="2025324"/>
            <a:ext cx="621792" cy="630936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BD73D-8A22-DE43-8057-AA5DBD0F6943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1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95AE29-4814-2FF7-6243-B14FC8E2F5F8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4E4DF5-C856-BBE0-3A77-4359377F58DC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3EDF68-C264-5724-0304-D46DB84B1E95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FD9210-CCBA-5730-C754-6370EACF8E0E}"/>
              </a:ext>
            </a:extLst>
          </p:cNvPr>
          <p:cNvSpPr txBox="1"/>
          <p:nvPr/>
        </p:nvSpPr>
        <p:spPr>
          <a:xfrm>
            <a:off x="645414" y="2983919"/>
            <a:ext cx="33627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</a:rPr>
              <a:t> ИИ-атаки стали мультифакторными — фишинг + дипфейки + подбор уязвимостей одновременно</a:t>
            </a:r>
            <a:endParaRPr lang="ru-RU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6DE100-C919-88EF-55B3-569967F9C05D}"/>
              </a:ext>
            </a:extLst>
          </p:cNvPr>
          <p:cNvSpPr txBox="1"/>
          <p:nvPr/>
        </p:nvSpPr>
        <p:spPr>
          <a:xfrm>
            <a:off x="645414" y="3953397"/>
            <a:ext cx="2173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76% атак используют ИИ (</a:t>
            </a:r>
            <a:r>
              <a:rPr lang="en-US" sz="1400" i="0" dirty="0">
                <a:solidFill>
                  <a:srgbClr val="F9FAFB"/>
                </a:solidFill>
                <a:effectLst/>
                <a:latin typeface="quote-cjk-patch"/>
              </a:rPr>
              <a:t>Positive Technologies, Q2 2025)</a:t>
            </a:r>
            <a:endParaRPr lang="ru-RU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86895A-1741-762A-5663-86BD478DBAA3}"/>
              </a:ext>
            </a:extLst>
          </p:cNvPr>
          <p:cNvSpPr txBox="1"/>
          <p:nvPr/>
        </p:nvSpPr>
        <p:spPr>
          <a:xfrm>
            <a:off x="4357497" y="2981036"/>
            <a:ext cx="23500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Пентестеры не успевают — ручное тестирование занимает 2-4 недели</a:t>
            </a:r>
            <a:endParaRPr lang="ru-RU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2952A2-A44B-571E-1F57-E6AEE18856B1}"/>
              </a:ext>
            </a:extLst>
          </p:cNvPr>
          <p:cNvSpPr txBox="1"/>
          <p:nvPr/>
        </p:nvSpPr>
        <p:spPr>
          <a:xfrm>
            <a:off x="4357497" y="3923131"/>
            <a:ext cx="3016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Средний чек пентеста: 3-5 млн руб (данные </a:t>
            </a:r>
            <a:r>
              <a:rPr lang="ru-RU" sz="1400" i="0" u="none" strike="noStrike" dirty="0">
                <a:solidFill>
                  <a:srgbClr val="679EFE"/>
                </a:solidFill>
                <a:effectLst/>
                <a:latin typeface="+mj-lt"/>
                <a:hlinkClick r:id="rId2"/>
              </a:rPr>
              <a:t>hh.ru</a:t>
            </a: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, тендеры)</a:t>
            </a:r>
            <a:endParaRPr lang="ru-RU" sz="1400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5C3F3C-2E10-0619-3330-58E33B7D8C10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81E92D-33D1-7A98-8AB2-27BF57848607}"/>
              </a:ext>
            </a:extLst>
          </p:cNvPr>
          <p:cNvSpPr txBox="1"/>
          <p:nvPr/>
        </p:nvSpPr>
        <p:spPr>
          <a:xfrm>
            <a:off x="7667244" y="2873314"/>
            <a:ext cx="25283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+mj-lt"/>
              </a:rPr>
              <a:t> </a:t>
            </a:r>
            <a:r>
              <a:rPr lang="ru-RU" sz="1400" b="1" i="0" dirty="0">
                <a:solidFill>
                  <a:srgbClr val="F9FAFB"/>
                </a:solidFill>
                <a:effectLst/>
                <a:latin typeface="+mj-lt"/>
              </a:rPr>
              <a:t>BAS-решения устарели</a:t>
            </a:r>
            <a:r>
              <a:rPr lang="ru-RU" sz="1400" b="0" i="0" dirty="0">
                <a:solidFill>
                  <a:srgbClr val="F9FAFB"/>
                </a:solidFill>
                <a:effectLst/>
                <a:latin typeface="+mj-lt"/>
              </a:rPr>
              <a:t> — Cymulate, SafeBreach работают только по известным базам</a:t>
            </a:r>
            <a:endParaRPr lang="ru-RU" sz="14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53B06F-418A-E7EF-DD59-E9B7587B7BA5}"/>
              </a:ext>
            </a:extLst>
          </p:cNvPr>
          <p:cNvSpPr txBox="1"/>
          <p:nvPr/>
        </p:nvSpPr>
        <p:spPr>
          <a:xfrm>
            <a:off x="7667244" y="3909809"/>
            <a:ext cx="2839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+mj-lt"/>
              </a:rPr>
              <a:t>SafeBreach сам объявил о переходе к AI-First (февраль 2026)</a:t>
            </a:r>
            <a:endParaRPr lang="ru-RU" sz="1400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A33D2-9B06-7398-AF35-8ED0F7D68D81}"/>
              </a:ext>
            </a:extLst>
          </p:cNvPr>
          <p:cNvSpPr txBox="1"/>
          <p:nvPr/>
        </p:nvSpPr>
        <p:spPr>
          <a:xfrm>
            <a:off x="2965323" y="5112214"/>
            <a:ext cx="6099048" cy="18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i="0" dirty="0">
                <a:solidFill>
                  <a:srgbClr val="F9FAFB"/>
                </a:solidFill>
                <a:effectLst/>
                <a:latin typeface="+mj-lt"/>
              </a:rPr>
              <a:t>                                                      </a:t>
            </a: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Сигналы с рынка: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PHDays 2025: эксперты обсуждают рост мультифакторных угроз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BAS Felix (российский аналог) — только 400 готовых техник, без ИИ</a:t>
            </a:r>
          </a:p>
          <a:p>
            <a:pPr>
              <a:buNone/>
            </a:pPr>
            <a:br>
              <a:rPr lang="ru-RU" sz="1400" dirty="0">
                <a:latin typeface="+mj-lt"/>
              </a:rPr>
            </a:br>
            <a:endParaRPr lang="ru-R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7135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E4A5-7751-4BBA-834E-26134ABC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45977A2-E219-6868-48AB-FCE800438674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B0A7C-172C-F81C-CFCE-5035A45ACE36}"/>
              </a:ext>
            </a:extLst>
          </p:cNvPr>
          <p:cNvSpPr txBox="1"/>
          <p:nvPr/>
        </p:nvSpPr>
        <p:spPr>
          <a:xfrm>
            <a:off x="4027551" y="303577"/>
            <a:ext cx="367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ЦЕЛЕВОЙ КЛИЕНТ (</a:t>
            </a:r>
            <a:r>
              <a:rPr lang="en-US" b="1" dirty="0"/>
              <a:t>CUSTOMER)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EF37D-864B-2935-162F-A2611BCFCFA1}"/>
              </a:ext>
            </a:extLst>
          </p:cNvPr>
          <p:cNvSpPr txBox="1"/>
          <p:nvPr/>
        </p:nvSpPr>
        <p:spPr>
          <a:xfrm>
            <a:off x="3373946" y="802736"/>
            <a:ext cx="4715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Крупный корпоративный сектор (</a:t>
            </a:r>
            <a:r>
              <a:rPr lang="en-US" dirty="0"/>
              <a:t>Enterprise)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1BF763-AC3B-213E-8216-580BF01F9E0A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2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FB9602-EAAE-377D-37F8-6CAF80AA019E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217A1-482C-056C-5E80-05B29958008E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09962F-9C43-4013-B17A-3909D15B62D5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74486F-BFA8-3F54-6E5D-FE89C8D54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39817"/>
              </p:ext>
            </p:extLst>
          </p:nvPr>
        </p:nvGraphicFramePr>
        <p:xfrm>
          <a:off x="5784818" y="1788874"/>
          <a:ext cx="4539615" cy="3415414"/>
        </p:xfrm>
        <a:graphic>
          <a:graphicData uri="http://schemas.openxmlformats.org/drawingml/2006/table">
            <a:tbl>
              <a:tblPr/>
              <a:tblGrid>
                <a:gridCol w="2209382">
                  <a:extLst>
                    <a:ext uri="{9D8B030D-6E8A-4147-A177-3AD203B41FA5}">
                      <a16:colId xmlns:a16="http://schemas.microsoft.com/office/drawing/2014/main" val="1142642424"/>
                    </a:ext>
                  </a:extLst>
                </a:gridCol>
                <a:gridCol w="2330233">
                  <a:extLst>
                    <a:ext uri="{9D8B030D-6E8A-4147-A177-3AD203B41FA5}">
                      <a16:colId xmlns:a16="http://schemas.microsoft.com/office/drawing/2014/main" val="2864678780"/>
                    </a:ext>
                  </a:extLst>
                </a:gridCol>
              </a:tblGrid>
              <a:tr h="30605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Параметр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97740"/>
                  </a:ext>
                </a:extLst>
              </a:tr>
              <a:tr h="4770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Кто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CISO, директора по ИБ, руководители пентестов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099624"/>
                  </a:ext>
                </a:extLst>
              </a:tr>
              <a:tr h="4770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Где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Банки (ТОП-50), нефтегаз, ритейл, телеком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2432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Проблема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Необходимость непрерывной защиты от новых ИИ-угроз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036255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Текущее решение</a:t>
                      </a:r>
                      <a:endParaRPr lang="ru-RU" sz="11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Наём пентестеров (3-5 млн/квартал), 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Cymulate, Metasploit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52786"/>
                  </a:ext>
                </a:extLst>
              </a:tr>
              <a:tr h="3060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Бюджет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от 10 млн руб/год на ИБ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191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847CBAC-0ABE-7468-65D8-417ACA0E7142}"/>
              </a:ext>
            </a:extLst>
          </p:cNvPr>
          <p:cNvSpPr txBox="1"/>
          <p:nvPr/>
        </p:nvSpPr>
        <p:spPr>
          <a:xfrm>
            <a:off x="99039" y="1301895"/>
            <a:ext cx="471563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quote-cjk-patch"/>
              </a:rPr>
              <a:t>Персона (Persona):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sz="1200" b="0" i="0" dirty="0">
                <a:solidFill>
                  <a:srgbClr val="F9FAFB"/>
                </a:solidFill>
                <a:effectLst/>
                <a:latin typeface="quote-cjk-patch"/>
              </a:rPr>
              <a:t>*Александр Дмитриевич, 42 года. Руководитель отдела пентестинга в крупном банке. 15 лет в ИБ. В подчинении 12 человек. Тратит 3-5 млн в квартал на внешних подрядчиков, но результаты приходят через месяц, когда угрозы уже изменились.*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quote-cjk-patch"/>
              </a:rPr>
              <a:t>JTBD: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sz="1200" b="0" i="1" dirty="0">
                <a:solidFill>
                  <a:srgbClr val="F9FAFB"/>
                </a:solidFill>
                <a:effectLst/>
                <a:latin typeface="quote-cjk-patch"/>
              </a:rPr>
              <a:t>«Когда мне нужно оценить защищённость перед проверкой регулятора, я хочу получить результаты за часы, а не недели, чтобы успеть закрыть дыры до того, как их найдут хакеры.»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5042B-8305-8BA6-FECE-3F73046696BE}"/>
              </a:ext>
            </a:extLst>
          </p:cNvPr>
          <p:cNvSpPr txBox="1"/>
          <p:nvPr/>
        </p:nvSpPr>
        <p:spPr>
          <a:xfrm>
            <a:off x="99039" y="4124376"/>
            <a:ext cx="6099048" cy="126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Ключевые возражения:</a:t>
            </a:r>
            <a:endParaRPr lang="ru-RU" sz="1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❓ «ИИ может ошибиться и заблокировать легитимные процессы»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❓ «Как интегрировать с MaxPatrol, Active Directory?»</a:t>
            </a:r>
          </a:p>
        </p:txBody>
      </p:sp>
    </p:spTree>
    <p:extLst>
      <p:ext uri="{BB962C8B-B14F-4D97-AF65-F5344CB8AC3E}">
        <p14:creationId xmlns:p14="http://schemas.microsoft.com/office/powerpoint/2010/main" val="161471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29F8C-6709-158B-B450-C2CCBD81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50BD773-5CE0-B02E-C5A1-B50AECD5B705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ACE22-8FE5-53D2-87B1-EE2F1396A9DA}"/>
              </a:ext>
            </a:extLst>
          </p:cNvPr>
          <p:cNvSpPr txBox="1"/>
          <p:nvPr/>
        </p:nvSpPr>
        <p:spPr>
          <a:xfrm>
            <a:off x="4027551" y="303577"/>
            <a:ext cx="367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РЕШЕНИЕ (</a:t>
            </a:r>
            <a:r>
              <a:rPr lang="en-US" b="1" dirty="0"/>
              <a:t>SOLUTION)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3363-1D3A-A68A-2D3C-1B7BCC040F64}"/>
              </a:ext>
            </a:extLst>
          </p:cNvPr>
          <p:cNvSpPr txBox="1"/>
          <p:nvPr/>
        </p:nvSpPr>
        <p:spPr>
          <a:xfrm>
            <a:off x="1645730" y="719692"/>
            <a:ext cx="8070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Платформа визуального конструирования атак на базе генеративного ИИ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23A98B-2FDF-1190-BCAE-3D88537C0675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3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ADB59A-8C99-3297-7BBB-B2116EBB12F2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209DE6-D4A2-3AC6-2ACD-CEDDC30FBE82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8391D8-1D23-88AB-A243-B7DCD71C0D62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AB3C4-2CE7-14E6-B0D4-CD9AE521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79" y="1427081"/>
            <a:ext cx="8852665" cy="29016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D20326-DD0F-EE64-1C8F-7CC4ECB6BB3E}"/>
              </a:ext>
            </a:extLst>
          </p:cNvPr>
          <p:cNvSpPr txBox="1"/>
          <p:nvPr/>
        </p:nvSpPr>
        <p:spPr>
          <a:xfrm>
            <a:off x="717804" y="4441905"/>
            <a:ext cx="6099048" cy="271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Ключевые функции: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 Визуальный low-code конструктор (пример как Puzzle RPA)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 Генерация фишинга и дипфейков под конкретную компанию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 Автономное обучение на каждой атаке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F9FAFB"/>
                </a:solidFill>
                <a:latin typeface="+mj-lt"/>
              </a:rPr>
              <a:t> </a:t>
            </a: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Интеграция с SIEM (MaxPatrol, Splunk)</a:t>
            </a:r>
          </a:p>
          <a:p>
            <a:pPr>
              <a:buNone/>
            </a:pPr>
            <a:br>
              <a:rPr lang="ru-RU" sz="1400" dirty="0">
                <a:latin typeface="+mj-lt"/>
              </a:rPr>
            </a:br>
            <a:endParaRPr lang="ru-R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7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1C91-84B7-A031-1764-E66CD7AD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70ACE5E-6713-41BB-26C9-580868BB1A6E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17118-6678-EB2F-A405-294FAE09D96E}"/>
              </a:ext>
            </a:extLst>
          </p:cNvPr>
          <p:cNvSpPr txBox="1"/>
          <p:nvPr/>
        </p:nvSpPr>
        <p:spPr>
          <a:xfrm>
            <a:off x="4027551" y="303577"/>
            <a:ext cx="367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УНИКАЛЬНОСТЬ (</a:t>
            </a:r>
            <a:r>
              <a:rPr lang="en-US" b="1" dirty="0"/>
              <a:t>WHY US)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DF8BB-B79F-F0BA-3045-16C6B1CBA57E}"/>
              </a:ext>
            </a:extLst>
          </p:cNvPr>
          <p:cNvSpPr txBox="1"/>
          <p:nvPr/>
        </p:nvSpPr>
        <p:spPr>
          <a:xfrm>
            <a:off x="3538539" y="786129"/>
            <a:ext cx="396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Чем мы отличаемся от конкурентов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6591C4-C7DE-9998-0C0C-CED6EF0837DD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4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63B431-6566-2C22-1113-4518C78AC463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406C7D-3EF8-F7CD-0DBD-DCAA856FFF3F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B7DF42-A55A-00E2-3261-7EA2B0FFB22B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0D06E9-7969-3E5F-0214-AB2A223CC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26460"/>
              </p:ext>
            </p:extLst>
          </p:nvPr>
        </p:nvGraphicFramePr>
        <p:xfrm>
          <a:off x="1180434" y="1810307"/>
          <a:ext cx="9144000" cy="2242627"/>
        </p:xfrm>
        <a:graphic>
          <a:graphicData uri="http://schemas.openxmlformats.org/drawingml/2006/table">
            <a:tbl>
              <a:tblPr/>
              <a:tblGrid>
                <a:gridCol w="1954161">
                  <a:extLst>
                    <a:ext uri="{9D8B030D-6E8A-4147-A177-3AD203B41FA5}">
                      <a16:colId xmlns:a16="http://schemas.microsoft.com/office/drawing/2014/main" val="2882372632"/>
                    </a:ext>
                  </a:extLst>
                </a:gridCol>
                <a:gridCol w="2396613">
                  <a:extLst>
                    <a:ext uri="{9D8B030D-6E8A-4147-A177-3AD203B41FA5}">
                      <a16:colId xmlns:a16="http://schemas.microsoft.com/office/drawing/2014/main" val="1391408933"/>
                    </a:ext>
                  </a:extLst>
                </a:gridCol>
                <a:gridCol w="2396613">
                  <a:extLst>
                    <a:ext uri="{9D8B030D-6E8A-4147-A177-3AD203B41FA5}">
                      <a16:colId xmlns:a16="http://schemas.microsoft.com/office/drawing/2014/main" val="3319571318"/>
                    </a:ext>
                  </a:extLst>
                </a:gridCol>
                <a:gridCol w="2396613">
                  <a:extLst>
                    <a:ext uri="{9D8B030D-6E8A-4147-A177-3AD203B41FA5}">
                      <a16:colId xmlns:a16="http://schemas.microsoft.com/office/drawing/2014/main" val="2382330972"/>
                    </a:ext>
                  </a:extLst>
                </a:gridCol>
              </a:tblGrid>
              <a:tr h="38276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🟥</a:t>
                      </a:r>
                      <a:r>
                        <a:rPr lang="ru-RU" sz="14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quote-cjk-patch"/>
                        </a:rPr>
                        <a:t>SafeBreach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🟧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Cymulate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🟨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BAS Felix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🟦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Metasploit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407222"/>
                  </a:ext>
                </a:extLst>
              </a:tr>
              <a:tr h="8105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Мировой лидер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BAS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Платформа непрерывного тестирования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Российский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BAS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Ручной инструмент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024937"/>
                  </a:ext>
                </a:extLst>
              </a:tr>
              <a:tr h="38276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Работает по базам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Нет ИИ-генерации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400 техник, без ИИ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Нет визуализации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755491"/>
                  </a:ext>
                </a:extLst>
              </a:tr>
              <a:tr h="5966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Только начали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AI-First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Нет предсказаний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Только готовые сценарии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Требует эксперта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568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4E1E57-8DAF-5B50-DD99-A4B7495DEE20}"/>
              </a:ext>
            </a:extLst>
          </p:cNvPr>
          <p:cNvSpPr txBox="1"/>
          <p:nvPr/>
        </p:nvSpPr>
        <p:spPr>
          <a:xfrm>
            <a:off x="1148048" y="1268681"/>
            <a:ext cx="6099048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Конкуренты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892C9-5B9C-F244-EDE7-0CADB069AC43}"/>
              </a:ext>
            </a:extLst>
          </p:cNvPr>
          <p:cNvSpPr txBox="1"/>
          <p:nvPr/>
        </p:nvSpPr>
        <p:spPr>
          <a:xfrm>
            <a:off x="1180434" y="4318370"/>
            <a:ext cx="6099048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Наше преимущество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93105A-87E7-FECA-A8A2-48F3274B0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42765"/>
              </p:ext>
            </p:extLst>
          </p:nvPr>
        </p:nvGraphicFramePr>
        <p:xfrm>
          <a:off x="1180434" y="4918076"/>
          <a:ext cx="9144000" cy="1319404"/>
        </p:xfrm>
        <a:graphic>
          <a:graphicData uri="http://schemas.openxmlformats.org/drawingml/2006/table">
            <a:tbl>
              <a:tblPr/>
              <a:tblGrid>
                <a:gridCol w="1954161">
                  <a:extLst>
                    <a:ext uri="{9D8B030D-6E8A-4147-A177-3AD203B41FA5}">
                      <a16:colId xmlns:a16="http://schemas.microsoft.com/office/drawing/2014/main" val="2652744184"/>
                    </a:ext>
                  </a:extLst>
                </a:gridCol>
                <a:gridCol w="2396613">
                  <a:extLst>
                    <a:ext uri="{9D8B030D-6E8A-4147-A177-3AD203B41FA5}">
                      <a16:colId xmlns:a16="http://schemas.microsoft.com/office/drawing/2014/main" val="999912244"/>
                    </a:ext>
                  </a:extLst>
                </a:gridCol>
                <a:gridCol w="2396613">
                  <a:extLst>
                    <a:ext uri="{9D8B030D-6E8A-4147-A177-3AD203B41FA5}">
                      <a16:colId xmlns:a16="http://schemas.microsoft.com/office/drawing/2014/main" val="1550031783"/>
                    </a:ext>
                  </a:extLst>
                </a:gridCol>
                <a:gridCol w="2396613">
                  <a:extLst>
                    <a:ext uri="{9D8B030D-6E8A-4147-A177-3AD203B41FA5}">
                      <a16:colId xmlns:a16="http://schemas.microsoft.com/office/drawing/2014/main" val="2018961403"/>
                    </a:ext>
                  </a:extLst>
                </a:gridCol>
              </a:tblGrid>
              <a:tr h="25756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✅ Генеративный ИИ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✅ Визуальный конструктор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✅ Прогнозирование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✅ Импортозамещение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668623"/>
                  </a:ext>
                </a:extLst>
              </a:tr>
              <a:tr h="4074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Создаёт новые атаки, которых нет в базах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Как Puzzle RPA — собирай сценарии из блоков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Предсказывает пути хакеров до атаки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Российское ПО, реестр ФСТЭК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68014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08A3050-D2EC-EF34-0AEC-39F583AD973D}"/>
              </a:ext>
            </a:extLst>
          </p:cNvPr>
          <p:cNvSpPr txBox="1"/>
          <p:nvPr/>
        </p:nvSpPr>
        <p:spPr>
          <a:xfrm>
            <a:off x="1083564" y="6462726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i="0" dirty="0">
                <a:solidFill>
                  <a:srgbClr val="F9FAFB"/>
                </a:solidFill>
                <a:effectLst/>
                <a:latin typeface="quote-cjk-patch"/>
              </a:rPr>
              <a:t>Мы не используем готовые базы — ИИ сам придумывает новые атаки.</a:t>
            </a:r>
            <a:br>
              <a:rPr lang="ru-RU" sz="900" dirty="0"/>
            </a:b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2758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BC888-E5A5-D2F4-1BF0-1B0D5691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0F3E6CF-74A8-8671-FC6F-1268BB56ADBC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0DD4EB-E505-401C-529F-3340E57E3EC6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5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5D2DCA-CE58-2646-C290-FC480F9D5250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E5766B-64E6-34CA-CFB7-4B1C26132EC6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56895A-2733-6B51-960D-047095DF7D26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B75A7-0AE0-C912-74B3-BDC7AEE92804}"/>
              </a:ext>
            </a:extLst>
          </p:cNvPr>
          <p:cNvSpPr txBox="1"/>
          <p:nvPr/>
        </p:nvSpPr>
        <p:spPr>
          <a:xfrm>
            <a:off x="3835908" y="274304"/>
            <a:ext cx="6099048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pl-PL" b="1" dirty="0">
                <a:solidFill>
                  <a:srgbClr val="F9FAFB"/>
                </a:solidFill>
                <a:effectLst/>
                <a:latin typeface="quote-cjk-patch"/>
              </a:rPr>
              <a:t>РЫНОК (MARKET) + TAM/SAM/SOM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7BEEC-6C10-A52E-178F-04345B6B29C4}"/>
              </a:ext>
            </a:extLst>
          </p:cNvPr>
          <p:cNvSpPr txBox="1"/>
          <p:nvPr/>
        </p:nvSpPr>
        <p:spPr>
          <a:xfrm>
            <a:off x="3835908" y="757166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Рынок BAS и автоматизации пентестов в России</a:t>
            </a:r>
            <a:endParaRPr lang="ru-RU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CB74D3-18D2-7F4D-ABAB-37A1DF39B3FC}"/>
              </a:ext>
            </a:extLst>
          </p:cNvPr>
          <p:cNvSpPr txBox="1"/>
          <p:nvPr/>
        </p:nvSpPr>
        <p:spPr>
          <a:xfrm>
            <a:off x="450295" y="1298212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Метод:</a:t>
            </a: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 комбинированный (</a:t>
            </a:r>
            <a:r>
              <a:rPr lang="en-US" sz="1400" b="0" i="0" dirty="0">
                <a:solidFill>
                  <a:srgbClr val="F9FAFB"/>
                </a:solidFill>
                <a:effectLst/>
                <a:latin typeface="quote-cjk-patch"/>
              </a:rPr>
              <a:t>top-down + bottom-up)</a:t>
            </a:r>
            <a:endParaRPr lang="ru-RU" sz="14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4C55A15-056A-82A2-B3C0-BB9B3D8E2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05492"/>
              </p:ext>
            </p:extLst>
          </p:nvPr>
        </p:nvGraphicFramePr>
        <p:xfrm>
          <a:off x="483600" y="2008940"/>
          <a:ext cx="5705721" cy="3845308"/>
        </p:xfrm>
        <a:graphic>
          <a:graphicData uri="http://schemas.openxmlformats.org/drawingml/2006/table">
            <a:tbl>
              <a:tblPr/>
              <a:tblGrid>
                <a:gridCol w="1901907">
                  <a:extLst>
                    <a:ext uri="{9D8B030D-6E8A-4147-A177-3AD203B41FA5}">
                      <a16:colId xmlns:a16="http://schemas.microsoft.com/office/drawing/2014/main" val="3147977795"/>
                    </a:ext>
                  </a:extLst>
                </a:gridCol>
                <a:gridCol w="1901907">
                  <a:extLst>
                    <a:ext uri="{9D8B030D-6E8A-4147-A177-3AD203B41FA5}">
                      <a16:colId xmlns:a16="http://schemas.microsoft.com/office/drawing/2014/main" val="3528670522"/>
                    </a:ext>
                  </a:extLst>
                </a:gridCol>
                <a:gridCol w="1901907">
                  <a:extLst>
                    <a:ext uri="{9D8B030D-6E8A-4147-A177-3AD203B41FA5}">
                      <a16:colId xmlns:a16="http://schemas.microsoft.com/office/drawing/2014/main" val="3929978833"/>
                    </a:ext>
                  </a:extLst>
                </a:gridCol>
              </a:tblGrid>
              <a:tr h="33937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Показатель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Как считали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197483"/>
                  </a:ext>
                </a:extLst>
              </a:tr>
              <a:tr h="9265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TAM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180 млрд ₽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Весь рынок информационной безопасности РФ (CNews 2025)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364548"/>
                  </a:ext>
                </a:extLst>
              </a:tr>
              <a:tr h="7308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SAM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27 млрд ₽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15% от TAM — доля BAS и пентестов в корпоративных бюджетах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562412"/>
                  </a:ext>
                </a:extLst>
              </a:tr>
              <a:tr h="7308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SOM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1.35 млрд ₽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200 крупных компаний × 5 млн ₽ + 50 средних × 1.5 млн ₽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57640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9FF1214-8475-98AB-28A3-3DBD1491DD00}"/>
              </a:ext>
            </a:extLst>
          </p:cNvPr>
          <p:cNvSpPr txBox="1"/>
          <p:nvPr/>
        </p:nvSpPr>
        <p:spPr>
          <a:xfrm>
            <a:off x="450201" y="1535393"/>
            <a:ext cx="6099142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Расчёт и допущения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84618C-C7D1-4905-5500-9131CF15B4E7}"/>
              </a:ext>
            </a:extLst>
          </p:cNvPr>
          <p:cNvSpPr txBox="1"/>
          <p:nvPr/>
        </p:nvSpPr>
        <p:spPr>
          <a:xfrm>
            <a:off x="6800041" y="1535393"/>
            <a:ext cx="6099142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100" b="1" dirty="0">
                <a:solidFill>
                  <a:srgbClr val="F9FAFB"/>
                </a:solidFill>
                <a:effectLst/>
                <a:latin typeface="quote-cjk-patch"/>
              </a:rPr>
              <a:t>Метод расчёта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TAM: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top-down (отраслевая статистика)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SAM: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top-down (экспертная оценка доли сегмента)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SOM: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bottom-up (целевое число клиентов × средний чек)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AEB83E-8393-F67D-EA78-F640C5A5391E}"/>
              </a:ext>
            </a:extLst>
          </p:cNvPr>
          <p:cNvSpPr txBox="1"/>
          <p:nvPr/>
        </p:nvSpPr>
        <p:spPr>
          <a:xfrm>
            <a:off x="6885432" y="3798532"/>
            <a:ext cx="6447934" cy="202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100" b="1" dirty="0">
                <a:solidFill>
                  <a:srgbClr val="F9FAFB"/>
                </a:solidFill>
                <a:effectLst/>
                <a:latin typeface="quote-cjk-patch"/>
              </a:rPr>
              <a:t>Источники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📄 </a:t>
            </a:r>
            <a:r>
              <a:rPr lang="en-US" sz="1100" b="0" i="0" dirty="0" err="1">
                <a:solidFill>
                  <a:srgbClr val="F9FAFB"/>
                </a:solidFill>
                <a:effectLst/>
                <a:latin typeface="quote-cjk-patch"/>
              </a:rPr>
              <a:t>CNews</a:t>
            </a:r>
            <a:r>
              <a:rPr lang="en-US" sz="1100" b="0" i="0" dirty="0">
                <a:solidFill>
                  <a:srgbClr val="F9FAFB"/>
                </a:solidFill>
                <a:effectLst/>
                <a:latin typeface="quote-cjk-patch"/>
              </a:rPr>
              <a:t> «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Рынок ИБ России 2025»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📄 </a:t>
            </a:r>
            <a:r>
              <a:rPr lang="en-US" sz="1100" b="0" i="0" dirty="0" err="1">
                <a:solidFill>
                  <a:srgbClr val="F9FAFB"/>
                </a:solidFill>
                <a:effectLst/>
                <a:latin typeface="quote-cjk-patch"/>
              </a:rPr>
              <a:t>TAdviser</a:t>
            </a:r>
            <a:r>
              <a:rPr lang="en-US" sz="1100" b="0" i="0" dirty="0">
                <a:solidFill>
                  <a:srgbClr val="F9FAFB"/>
                </a:solidFill>
                <a:effectLst/>
                <a:latin typeface="quote-cjk-patch"/>
              </a:rPr>
              <a:t> «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Кибербезопасность в корпоративном секторе»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📄 </a:t>
            </a:r>
            <a:r>
              <a:rPr lang="en-US" sz="1100" b="0" i="0" dirty="0">
                <a:solidFill>
                  <a:srgbClr val="F9FAFB"/>
                </a:solidFill>
                <a:effectLst/>
                <a:latin typeface="quote-cjk-patch"/>
              </a:rPr>
              <a:t>Positive Technologies «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Анализ угроз 2025–2026»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1100" b="0" i="0" u="none" strike="noStrike" dirty="0">
                <a:solidFill>
                  <a:srgbClr val="679EFE"/>
                </a:solidFill>
                <a:effectLst/>
                <a:latin typeface="quote-cjk-patch"/>
                <a:hlinkClick r:id="rId2"/>
              </a:rPr>
              <a:t>hh.ru</a:t>
            </a:r>
            <a:r>
              <a:rPr lang="en-US" sz="1100" b="0" i="0" dirty="0">
                <a:solidFill>
                  <a:srgbClr val="F9FAFB"/>
                </a:solidFill>
                <a:effectLst/>
                <a:latin typeface="quote-cjk-patch"/>
              </a:rPr>
              <a:t> (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анализ зарплат и вакансий пентестеров)</a:t>
            </a:r>
          </a:p>
        </p:txBody>
      </p:sp>
    </p:spTree>
    <p:extLst>
      <p:ext uri="{BB962C8B-B14F-4D97-AF65-F5344CB8AC3E}">
        <p14:creationId xmlns:p14="http://schemas.microsoft.com/office/powerpoint/2010/main" val="380703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621B-37B0-6148-A965-82D4D079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44D27FE-B06D-D003-D3EA-66272C6D8B61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5291E9-6F44-92FA-8A38-F9175ED09D2D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6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D0CA36-4E76-4E13-7517-D9782F80E531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4C2D64-91C7-603F-22AD-6122068497CF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298A97-4F15-0257-08A2-8DC0CDC03469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682F7-EBA5-ADCE-7A29-DE6230A8596A}"/>
              </a:ext>
            </a:extLst>
          </p:cNvPr>
          <p:cNvSpPr txBox="1"/>
          <p:nvPr/>
        </p:nvSpPr>
        <p:spPr>
          <a:xfrm>
            <a:off x="3562889" y="21640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ПОЧЕМУ СЕЙЧАС (</a:t>
            </a:r>
            <a:r>
              <a:rPr lang="en-US" b="1" dirty="0"/>
              <a:t>WHY NOW)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31B993-CBF0-9BE9-1A72-A4C4B39011F0}"/>
              </a:ext>
            </a:extLst>
          </p:cNvPr>
          <p:cNvSpPr txBox="1"/>
          <p:nvPr/>
        </p:nvSpPr>
        <p:spPr>
          <a:xfrm>
            <a:off x="3485609" y="645472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5 причин выйти на рынок именно сейчас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1BBEB7-BD33-B776-D237-6C4E8442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758" y="2162625"/>
            <a:ext cx="1799829" cy="179982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A69E072-5973-C1B2-DED5-8F699336B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657711-C7DD-1B9C-7AA2-0A631072C173}"/>
              </a:ext>
            </a:extLst>
          </p:cNvPr>
          <p:cNvSpPr txBox="1"/>
          <p:nvPr/>
        </p:nvSpPr>
        <p:spPr>
          <a:xfrm>
            <a:off x="1077021" y="1977959"/>
            <a:ext cx="122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Драйвер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2FE2E8-7AE2-D6FE-3394-1FC843528F58}"/>
              </a:ext>
            </a:extLst>
          </p:cNvPr>
          <p:cNvSpPr txBox="1"/>
          <p:nvPr/>
        </p:nvSpPr>
        <p:spPr>
          <a:xfrm>
            <a:off x="7450875" y="1977959"/>
            <a:ext cx="1572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Влияние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5350CD-747E-E0C8-178B-D39F4A9BF937}"/>
              </a:ext>
            </a:extLst>
          </p:cNvPr>
          <p:cNvSpPr txBox="1"/>
          <p:nvPr/>
        </p:nvSpPr>
        <p:spPr>
          <a:xfrm>
            <a:off x="488695" y="2436928"/>
            <a:ext cx="2507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ИИ-атаки стали мейнстримом</a:t>
            </a:r>
            <a:endParaRPr lang="ru-RU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1BA6F2-FD52-D17C-AF98-85FDBFC6E77F}"/>
              </a:ext>
            </a:extLst>
          </p:cNvPr>
          <p:cNvSpPr txBox="1"/>
          <p:nvPr/>
        </p:nvSpPr>
        <p:spPr>
          <a:xfrm>
            <a:off x="696084" y="2863218"/>
            <a:ext cx="1904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Импортозамещение</a:t>
            </a:r>
            <a:endParaRPr lang="ru-RU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C53A06-13CA-7C80-99F5-C5328A379E3E}"/>
              </a:ext>
            </a:extLst>
          </p:cNvPr>
          <p:cNvSpPr txBox="1"/>
          <p:nvPr/>
        </p:nvSpPr>
        <p:spPr>
          <a:xfrm>
            <a:off x="825834" y="3192937"/>
            <a:ext cx="1709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Дефицит кадров</a:t>
            </a:r>
            <a:endParaRPr lang="ru-RU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1B9B50-E8C9-92BD-946C-8E430AED2D3B}"/>
              </a:ext>
            </a:extLst>
          </p:cNvPr>
          <p:cNvSpPr txBox="1"/>
          <p:nvPr/>
        </p:nvSpPr>
        <p:spPr>
          <a:xfrm>
            <a:off x="377364" y="3597285"/>
            <a:ext cx="27301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Лидеры подтверждают тренд</a:t>
            </a:r>
            <a:endParaRPr lang="ru-RU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85D358-6257-33A6-9DAD-DA3203B03B25}"/>
              </a:ext>
            </a:extLst>
          </p:cNvPr>
          <p:cNvSpPr txBox="1"/>
          <p:nvPr/>
        </p:nvSpPr>
        <p:spPr>
          <a:xfrm>
            <a:off x="440209" y="4023575"/>
            <a:ext cx="2507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Рост мультифакторных атак</a:t>
            </a:r>
            <a:endParaRPr lang="ru-RU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2F137-AB8A-A58D-D592-185AAE98BC20}"/>
              </a:ext>
            </a:extLst>
          </p:cNvPr>
          <p:cNvSpPr txBox="1"/>
          <p:nvPr/>
        </p:nvSpPr>
        <p:spPr>
          <a:xfrm>
            <a:off x="5878849" y="2430429"/>
            <a:ext cx="5006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76% атак используют ИИ — нужна асимметричная защита</a:t>
            </a:r>
            <a:endParaRPr lang="ru-RU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2B7422-5371-E265-80CD-3025D03FB898}"/>
              </a:ext>
            </a:extLst>
          </p:cNvPr>
          <p:cNvSpPr txBox="1"/>
          <p:nvPr/>
        </p:nvSpPr>
        <p:spPr>
          <a:xfrm>
            <a:off x="5537053" y="2769296"/>
            <a:ext cx="51359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Западные вендоры ушли — российские компании ищут замену</a:t>
            </a:r>
            <a:endParaRPr lang="ru-RU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71EEE3-3445-F354-9826-759051FF3E36}"/>
              </a:ext>
            </a:extLst>
          </p:cNvPr>
          <p:cNvSpPr txBox="1"/>
          <p:nvPr/>
        </p:nvSpPr>
        <p:spPr>
          <a:xfrm>
            <a:off x="6174187" y="3099015"/>
            <a:ext cx="4265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Найти пентестера сложно и дорого (от 300 тыс/мес)</a:t>
            </a:r>
            <a:endParaRPr lang="ru-RU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691D13-0337-7980-ED1D-BC4D65A1E14D}"/>
              </a:ext>
            </a:extLst>
          </p:cNvPr>
          <p:cNvSpPr txBox="1"/>
          <p:nvPr/>
        </p:nvSpPr>
        <p:spPr>
          <a:xfrm>
            <a:off x="5878849" y="3521020"/>
            <a:ext cx="4560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SafeBreach объявил о переходе к AI-First (февраль 2026)</a:t>
            </a:r>
            <a:endParaRPr lang="ru-RU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E3F29A-1BE3-821A-C467-0EAB20EA7177}"/>
              </a:ext>
            </a:extLst>
          </p:cNvPr>
          <p:cNvSpPr txBox="1"/>
          <p:nvPr/>
        </p:nvSpPr>
        <p:spPr>
          <a:xfrm>
            <a:off x="5976225" y="3902182"/>
            <a:ext cx="43406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Дипфейки + фишинг + уязвимости — новый стандарт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1232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78B13-6A3B-169F-4017-338E2EFA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806BDB2-6313-E2B2-3D40-9807307F918F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54AB3C-472C-7D81-F514-B9DFDCDD785C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7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94D3B2-F47A-7537-B8AF-F4D0BFE5099B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B94933-48F1-D371-B93E-DC2DE972863E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4E37E-BD60-6D7A-4BC8-44F02CC95FAB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16EF1-37B8-68AA-22E7-78E2021FC002}"/>
              </a:ext>
            </a:extLst>
          </p:cNvPr>
          <p:cNvSpPr txBox="1"/>
          <p:nvPr/>
        </p:nvSpPr>
        <p:spPr>
          <a:xfrm>
            <a:off x="4504721" y="22756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БИЗНЕС-МОДЕЛЬ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3FAA26-4964-A723-4D22-4188F8868F59}"/>
              </a:ext>
            </a:extLst>
          </p:cNvPr>
          <p:cNvSpPr txBox="1"/>
          <p:nvPr/>
        </p:nvSpPr>
        <p:spPr>
          <a:xfrm>
            <a:off x="4556537" y="626371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 Как мы зарабатываем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FFBAF8-608C-B17D-EC48-295B5EC88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" name="Таблица 10">
            <a:extLst>
              <a:ext uri="{FF2B5EF4-FFF2-40B4-BE49-F238E27FC236}">
                <a16:creationId xmlns:a16="http://schemas.microsoft.com/office/drawing/2014/main" id="{581E510C-E138-209C-3293-6C4D98C03D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895797"/>
              </p:ext>
            </p:extLst>
          </p:nvPr>
        </p:nvGraphicFramePr>
        <p:xfrm>
          <a:off x="2493978" y="2021740"/>
          <a:ext cx="6729223" cy="172605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44980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1674837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1654703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1654703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35315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 Корпоративная подписка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 Лицензия </a:t>
                      </a:r>
                      <a:r>
                        <a:rPr lang="en-US" sz="1100" b="0" dirty="0">
                          <a:effectLst/>
                          <a:latin typeface="quote-cjk-patch"/>
                        </a:rPr>
                        <a:t>On-premise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 Образовательные лицензии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 Услуги внедрения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Enterprise-</a:t>
                      </a:r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версия (годовая)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компаний с закрытым контуром</a:t>
                      </a:r>
                      <a:endParaRPr lang="ru-RU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вузов и учебных центров</a:t>
                      </a:r>
                      <a:endParaRPr lang="ru-RU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Интеграция, обучение команды</a:t>
                      </a:r>
                      <a:endParaRPr lang="ru-RU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3–7 млн ₽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  <a:latin typeface="quote-cjk-patch"/>
                        </a:rPr>
                        <a:t>5–10 млн ₽ + поддержка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  <a:latin typeface="quote-cjk-patch"/>
                        </a:rPr>
                        <a:t>300–500 тыс ₽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500 тыс – 1 млн ₽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55E5BB-8334-0441-978D-C9A97780F22A}"/>
              </a:ext>
            </a:extLst>
          </p:cNvPr>
          <p:cNvSpPr txBox="1"/>
          <p:nvPr/>
        </p:nvSpPr>
        <p:spPr>
          <a:xfrm>
            <a:off x="4647438" y="4012203"/>
            <a:ext cx="6099048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Каналы продаж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F89D3A-0A51-954D-07E0-F641E155A315}"/>
              </a:ext>
            </a:extLst>
          </p:cNvPr>
          <p:cNvSpPr txBox="1"/>
          <p:nvPr/>
        </p:nvSpPr>
        <p:spPr>
          <a:xfrm>
            <a:off x="4430268" y="1377153"/>
            <a:ext cx="6099048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Модели монетизации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97C172D1-7915-64EC-ECE2-CFEC887AA6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5367716"/>
              </p:ext>
            </p:extLst>
          </p:nvPr>
        </p:nvGraphicFramePr>
        <p:xfrm>
          <a:off x="2493978" y="4651070"/>
          <a:ext cx="6729223" cy="12993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44980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1674837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1654703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1654703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35315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Прямые продажи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Партнёры-интеграторы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онференции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Прямые продажи</a:t>
                      </a:r>
                    </a:p>
                  </a:txBody>
                  <a:tcPr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Собственная команда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effectLst/>
                          <a:latin typeface="quote-cjk-patch"/>
                        </a:rPr>
                        <a:t>«Инфосистемы Джет», «Ай-Теко»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100" b="0">
                          <a:effectLst/>
                          <a:latin typeface="quote-cjk-patch"/>
                        </a:rPr>
                        <a:t>PHDays, Offzone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effectLst/>
                          <a:latin typeface="quote-cjk-patch"/>
                        </a:rPr>
                        <a:t>Собственная команда</a:t>
                      </a:r>
                    </a:p>
                  </a:txBody>
                  <a:tcPr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31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B1B6-EAA4-91B1-C6CC-1D07604B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4918688-C152-91AE-6D62-94FB55F81CE3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427028-0591-1D83-8935-C5BC2E789D8B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8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DF97D8-5E66-3E05-8E87-9A7FA38240BC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400B24-A358-185B-DAE0-9287EF3535A7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F8A5B2-B71C-A30D-7B3B-3DC4115F6D37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3C683-67D0-76DE-563E-072FEEF9C465}"/>
              </a:ext>
            </a:extLst>
          </p:cNvPr>
          <p:cNvSpPr txBox="1"/>
          <p:nvPr/>
        </p:nvSpPr>
        <p:spPr>
          <a:xfrm>
            <a:off x="3750564" y="218001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ДОРОЖНАЯ КАРТА (</a:t>
            </a:r>
            <a:r>
              <a:rPr lang="en-US" b="1" dirty="0"/>
              <a:t>ROADMAP)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D23D7-9613-D418-C0A1-0FFC7CD9C1CB}"/>
              </a:ext>
            </a:extLst>
          </p:cNvPr>
          <p:cNvSpPr txBox="1"/>
          <p:nvPr/>
        </p:nvSpPr>
        <p:spPr>
          <a:xfrm>
            <a:off x="4430268" y="651444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План развития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ED2BA8-3CFF-11EF-2EFF-20B01F6DB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" name="Таблица 10">
            <a:extLst>
              <a:ext uri="{FF2B5EF4-FFF2-40B4-BE49-F238E27FC236}">
                <a16:creationId xmlns:a16="http://schemas.microsoft.com/office/drawing/2014/main" id="{32D609F5-FE44-C644-F8A6-9CD3E9A33D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985329"/>
              </p:ext>
            </p:extLst>
          </p:nvPr>
        </p:nvGraphicFramePr>
        <p:xfrm>
          <a:off x="632479" y="2249406"/>
          <a:ext cx="3419817" cy="270300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44980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1674837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</a:tblGrid>
              <a:tr h="35315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Этап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Что делаем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MVP (Q3 2026)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Прототип визуального конструктора + генерация фишинга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Пилот (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Q4 2026)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Внедрение в 3–5 банках, сбор обратной связи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EB87E5-2308-728B-0039-2B144F2C3D60}"/>
              </a:ext>
            </a:extLst>
          </p:cNvPr>
          <p:cNvSpPr txBox="1"/>
          <p:nvPr/>
        </p:nvSpPr>
        <p:spPr>
          <a:xfrm>
            <a:off x="5829300" y="1157022"/>
            <a:ext cx="6099048" cy="585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400" dirty="0">
                <a:solidFill>
                  <a:srgbClr val="F9FAFB"/>
                </a:solidFill>
                <a:effectLst/>
                <a:latin typeface="quote-cjk-patch"/>
              </a:rPr>
              <a:t>2026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Q3 — MVP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Прототип визуального конструктора + генерация фишинга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Q4 — Пилот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Внедрение в 3–5 банках, сбор обратной связи</a:t>
            </a:r>
          </a:p>
          <a:p>
            <a:pPr>
              <a:buNone/>
            </a:pPr>
            <a:endParaRPr lang="ru-RU" sz="1400" dirty="0"/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400" dirty="0">
                <a:solidFill>
                  <a:srgbClr val="F9FAFB"/>
                </a:solidFill>
                <a:effectLst/>
                <a:latin typeface="quote-cjk-patch"/>
              </a:rPr>
              <a:t>2027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Q1 — Релиз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Полная версия: генерация дипфейков, интеграция с SIEM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Q2–Q4 — Масштабирование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Выход на 50+ клиентов, развитие партнёрской сети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2027 — Сертификация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Получение сертификатов ФСТЭК</a:t>
            </a:r>
          </a:p>
          <a:p>
            <a:pPr>
              <a:buNone/>
            </a:pPr>
            <a:br>
              <a:rPr lang="ru-RU" sz="1400" dirty="0"/>
            </a:b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59476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FED2-FD14-85E1-AD3A-BC0C2719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00F956E-F004-AE1B-17CA-5319A60F1542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4926AA-4FF7-6D65-9A04-11F561FD31BE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B7BBD8-717E-61A2-12F3-EB70A7FDBD75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A724AC-0553-9975-1607-B329ECD03CB7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6991C6-6A3E-EAE7-5C30-8FA405D33A45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5A1F9-1737-AC17-F8C7-92583DD61D76}"/>
              </a:ext>
            </a:extLst>
          </p:cNvPr>
          <p:cNvSpPr txBox="1"/>
          <p:nvPr/>
        </p:nvSpPr>
        <p:spPr>
          <a:xfrm>
            <a:off x="4425696" y="374981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КОМАНДА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5802A5-6813-FD3A-B366-0A5EA5E5B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0FF0F-516A-676E-F31A-6095C0B9F045}"/>
              </a:ext>
            </a:extLst>
          </p:cNvPr>
          <p:cNvSpPr txBox="1"/>
          <p:nvPr/>
        </p:nvSpPr>
        <p:spPr>
          <a:xfrm>
            <a:off x="4307586" y="1119294"/>
            <a:ext cx="1788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Кто делает продукт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9C1C8-1063-9CD5-1E28-9960AB51DFD2}"/>
              </a:ext>
            </a:extLst>
          </p:cNvPr>
          <p:cNvSpPr txBox="1"/>
          <p:nvPr/>
        </p:nvSpPr>
        <p:spPr>
          <a:xfrm>
            <a:off x="2001298" y="3048380"/>
            <a:ext cx="609904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Основатель / Product Vision</a:t>
            </a:r>
            <a:b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Семененко Лилия — тимлид, разработчик, автор концепции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Технический директор</a:t>
            </a:r>
            <a:b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Алексеев Филипп — разработчик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Маркетолог / Дизайнер</a:t>
            </a:r>
            <a:b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Витютнев Олег — дизайнер, разработчик</a:t>
            </a:r>
          </a:p>
        </p:txBody>
      </p:sp>
    </p:spTree>
    <p:extLst>
      <p:ext uri="{BB962C8B-B14F-4D97-AF65-F5344CB8AC3E}">
        <p14:creationId xmlns:p14="http://schemas.microsoft.com/office/powerpoint/2010/main" val="2349837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885</Words>
  <Application>Microsoft Office PowerPoint</Application>
  <PresentationFormat>Широкоэкранный</PresentationFormat>
  <Paragraphs>192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quote-cjk-patch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lolasudo</cp:lastModifiedBy>
  <cp:revision>2</cp:revision>
  <dcterms:created xsi:type="dcterms:W3CDTF">2026-03-11T19:32:49Z</dcterms:created>
  <dcterms:modified xsi:type="dcterms:W3CDTF">2026-03-12T07:46:04Z</dcterms:modified>
</cp:coreProperties>
</file>